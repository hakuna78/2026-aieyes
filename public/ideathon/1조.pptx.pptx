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Arimo Bold" charset="1" panose="020B0704020202020204"/>
      <p:regular r:id="rId17"/>
    </p:embeddedFont>
    <p:embeddedFont>
      <p:font typeface="Calibri (MS)" charset="1" panose="020F0502020204030204"/>
      <p:regular r:id="rId18"/>
    </p:embeddedFont>
    <p:embeddedFont>
      <p:font typeface="Arimo" charset="1" panose="020B0604020202020204"/>
      <p:regular r:id="rId19"/>
    </p:embeddedFont>
    <p:embeddedFont>
      <p:font typeface="Noto Sans" charset="1" panose="020B0502040504020204"/>
      <p:regular r:id="rId20"/>
    </p:embeddedFont>
    <p:embeddedFont>
      <p:font typeface="Noto Sans Bold" charset="1" panose="020B0802040504020204"/>
      <p:regular r:id="rId21"/>
    </p:embeddedFont>
    <p:embeddedFont>
      <p:font typeface="Noto Sans Kr Bold" charset="1" panose="020B02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4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30200" y="1097280"/>
            <a:ext cx="4389120" cy="4389120"/>
            <a:chOff x="0" y="0"/>
            <a:chExt cx="5852160" cy="5852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2926080"/>
                  </a:moveTo>
                  <a:cubicBezTo>
                    <a:pt x="0" y="1310005"/>
                    <a:pt x="1310005" y="0"/>
                    <a:pt x="2926080" y="0"/>
                  </a:cubicBezTo>
                  <a:cubicBezTo>
                    <a:pt x="4542155" y="0"/>
                    <a:pt x="5852160" y="1310005"/>
                    <a:pt x="5852160" y="2926080"/>
                  </a:cubicBezTo>
                  <a:cubicBezTo>
                    <a:pt x="5852160" y="4542155"/>
                    <a:pt x="4542155" y="5852160"/>
                    <a:pt x="2926080" y="5852160"/>
                  </a:cubicBezTo>
                  <a:cubicBezTo>
                    <a:pt x="1310005" y="5852160"/>
                    <a:pt x="0" y="4542155"/>
                    <a:pt x="0" y="2926080"/>
                  </a:cubicBezTo>
                  <a:close/>
                </a:path>
              </a:pathLst>
            </a:custGeom>
            <a:solidFill>
              <a:srgbClr val="FFD74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795760" y="960120"/>
            <a:ext cx="4389120" cy="4663440"/>
            <a:chOff x="0" y="0"/>
            <a:chExt cx="5852160" cy="6217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52160" cy="6217920"/>
            </a:xfrm>
            <a:custGeom>
              <a:avLst/>
              <a:gdLst/>
              <a:ahLst/>
              <a:cxnLst/>
              <a:rect r="r" b="b" t="t" l="l"/>
              <a:pathLst>
                <a:path h="6217920" w="5852160">
                  <a:moveTo>
                    <a:pt x="0" y="3108960"/>
                  </a:moveTo>
                  <a:cubicBezTo>
                    <a:pt x="0" y="1391920"/>
                    <a:pt x="1310005" y="0"/>
                    <a:pt x="2926080" y="0"/>
                  </a:cubicBezTo>
                  <a:cubicBezTo>
                    <a:pt x="4542155" y="0"/>
                    <a:pt x="5852160" y="1391920"/>
                    <a:pt x="5852160" y="3108960"/>
                  </a:cubicBezTo>
                  <a:cubicBezTo>
                    <a:pt x="5852160" y="4826000"/>
                    <a:pt x="4542155" y="6217920"/>
                    <a:pt x="2926080" y="6217920"/>
                  </a:cubicBezTo>
                  <a:cubicBezTo>
                    <a:pt x="1310005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0B142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60120" y="3187065"/>
            <a:ext cx="1097280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🌙 IDEATHON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0120" y="3417570"/>
            <a:ext cx="15087600" cy="268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0"/>
              </a:lnSpc>
            </a:pPr>
            <a:r>
              <a:rPr lang="en-US" sz="12600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달빛버스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0120" y="5842635"/>
            <a:ext cx="1508760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3300" b="true">
                <a:solidFill>
                  <a:srgbClr val="4FC3F7"/>
                </a:solidFill>
                <a:latin typeface="Arimo Bold"/>
                <a:ea typeface="Arimo Bold"/>
                <a:cs typeface="Arimo Bold"/>
                <a:sym typeface="Arimo Bold"/>
              </a:rPr>
              <a:t>AI 기반 심야 라스트마일 자율주행 DRT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120" y="6821805"/>
            <a:ext cx="1508760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심야 교통복지 사각지대 예측 및 배차 최적화 시스템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120" y="8161020"/>
            <a:ext cx="10972800" cy="960120"/>
            <a:chOff x="0" y="0"/>
            <a:chExt cx="1463040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lnTo>
                    <a:pt x="14417039" y="0"/>
                  </a:lnTo>
                  <a:cubicBezTo>
                    <a:pt x="14534896" y="0"/>
                    <a:pt x="14630400" y="95504"/>
                    <a:pt x="14630400" y="213360"/>
                  </a:cubicBezTo>
                  <a:lnTo>
                    <a:pt x="14630400" y="1066800"/>
                  </a:lnTo>
                  <a:cubicBezTo>
                    <a:pt x="14630400" y="1184656"/>
                    <a:pt x="14534896" y="1280160"/>
                    <a:pt x="14417039" y="1280160"/>
                  </a:cubicBezTo>
                  <a:lnTo>
                    <a:pt x="213360" y="1280160"/>
                  </a:lnTo>
                  <a:cubicBezTo>
                    <a:pt x="95504" y="1280160"/>
                    <a:pt x="0" y="1184656"/>
                    <a:pt x="0" y="106680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8298180"/>
            <a:ext cx="10424160" cy="685800"/>
            <a:chOff x="0" y="0"/>
            <a:chExt cx="1389888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98880" cy="914400"/>
            </a:xfrm>
            <a:custGeom>
              <a:avLst/>
              <a:gdLst/>
              <a:ahLst/>
              <a:cxnLst/>
              <a:rect r="r" b="b" t="t" l="l"/>
              <a:pathLst>
                <a:path h="91440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3898880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9"/>
                </a:lnSpc>
              </a:pPr>
              <a:r>
                <a:rPr lang="en-US" sz="2499">
                  <a:solidFill>
                    <a:srgbClr val="FFD74A"/>
                  </a:solidFill>
                  <a:latin typeface="Arimo"/>
                  <a:ea typeface="Arimo"/>
                  <a:cs typeface="Arimo"/>
                  <a:sym typeface="Arimo"/>
                </a:rPr>
                <a:t>“ 가장 어두운 시간, 집까지의 마지막 1km를 연결하다 ”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60120" y="9603105"/>
            <a:ext cx="1097280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B8C0CC"/>
                </a:solidFill>
                <a:latin typeface="Arimo"/>
                <a:ea typeface="Arimo"/>
                <a:cs typeface="Arimo"/>
                <a:sym typeface="Arimo"/>
              </a:rPr>
              <a:t>Team Moonlight  | 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4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459200" y="354330"/>
            <a:ext cx="164592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500">
                <a:solidFill>
                  <a:srgbClr val="B8C0CC"/>
                </a:solidFill>
                <a:latin typeface="Arimo"/>
                <a:ea typeface="Arimo"/>
                <a:cs typeface="Arimo"/>
                <a:sym typeface="Arimo"/>
              </a:rPr>
              <a:t>02 / 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2960" y="335280"/>
            <a:ext cx="109728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문제 제기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754380"/>
            <a:ext cx="548640" cy="82296"/>
            <a:chOff x="0" y="0"/>
            <a:chExt cx="731520" cy="1097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" cy="109728"/>
            </a:xfrm>
            <a:custGeom>
              <a:avLst/>
              <a:gdLst/>
              <a:ahLst/>
              <a:cxnLst/>
              <a:rect r="r" b="b" t="t" l="l"/>
              <a:pathLst>
                <a:path h="10972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D74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22960" y="741045"/>
            <a:ext cx="16459200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4500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심야의 ‘마지막 1~3km’가 단절되어 있다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2960" y="1805940"/>
            <a:ext cx="164592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4FC3F7"/>
                </a:solidFill>
                <a:latin typeface="Calibri (MS)"/>
                <a:ea typeface="Calibri (MS)"/>
                <a:cs typeface="Calibri (MS)"/>
                <a:sym typeface="Calibri (MS)"/>
              </a:rPr>
              <a:t>택시 타기엔 짧고, 걷기엔 위험한 거리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22960" y="3017520"/>
            <a:ext cx="7955280" cy="6172200"/>
            <a:chOff x="0" y="0"/>
            <a:chExt cx="10607040" cy="822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8229600"/>
            </a:xfrm>
            <a:custGeom>
              <a:avLst/>
              <a:gdLst/>
              <a:ahLst/>
              <a:cxnLst/>
              <a:rect r="r" b="b" t="t" l="l"/>
              <a:pathLst>
                <a:path h="8229600" w="10607040">
                  <a:moveTo>
                    <a:pt x="0" y="1371600"/>
                  </a:moveTo>
                  <a:cubicBezTo>
                    <a:pt x="0" y="614045"/>
                    <a:pt x="614045" y="0"/>
                    <a:pt x="1371600" y="0"/>
                  </a:cubicBezTo>
                  <a:lnTo>
                    <a:pt x="9235440" y="0"/>
                  </a:lnTo>
                  <a:cubicBezTo>
                    <a:pt x="9992995" y="0"/>
                    <a:pt x="10607040" y="614045"/>
                    <a:pt x="10607040" y="1371600"/>
                  </a:cubicBezTo>
                  <a:lnTo>
                    <a:pt x="10607040" y="6858000"/>
                  </a:lnTo>
                  <a:cubicBezTo>
                    <a:pt x="10607040" y="7615555"/>
                    <a:pt x="9992995" y="8229600"/>
                    <a:pt x="9235440" y="8229600"/>
                  </a:cubicBezTo>
                  <a:lnTo>
                    <a:pt x="1371600" y="8229600"/>
                  </a:lnTo>
                  <a:cubicBezTo>
                    <a:pt x="614045" y="8229600"/>
                    <a:pt x="0" y="7615555"/>
                    <a:pt x="0" y="685800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03020" y="3188970"/>
            <a:ext cx="7132320" cy="135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sz="3499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🕛  00:40, 음주를 마친 A씨, </a:t>
            </a:r>
          </a:p>
          <a:p>
            <a:pPr algn="l">
              <a:lnSpc>
                <a:spcPts val="5249"/>
              </a:lnSpc>
            </a:pPr>
            <a:r>
              <a:rPr lang="en-US" sz="3499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N버스는 탔지만..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4440" y="4889563"/>
            <a:ext cx="7132320" cy="235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99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299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막차는 끊겼고, 집까지 1.8km</a:t>
            </a:r>
          </a:p>
          <a:p>
            <a:pPr algn="l">
              <a:lnSpc>
                <a:spcPts val="3725"/>
              </a:lnSpc>
            </a:pPr>
            <a:r>
              <a:rPr lang="en-US" sz="2299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299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정류장에서 집까지의 단거리는</a:t>
            </a:r>
          </a:p>
          <a:p>
            <a:pPr algn="l">
              <a:lnSpc>
                <a:spcPts val="3725"/>
              </a:lnSpc>
            </a:pPr>
            <a:r>
              <a:rPr lang="en-US" sz="2299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   어떤 대중교통도 커버하지 않음</a:t>
            </a:r>
          </a:p>
          <a:p>
            <a:pPr algn="l">
              <a:lnSpc>
                <a:spcPts val="3725"/>
              </a:lnSpc>
            </a:pPr>
            <a:r>
              <a:rPr lang="en-US" sz="2299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299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택시는 잡히지 않거나 단거리 거부</a:t>
            </a:r>
          </a:p>
          <a:p>
            <a:pPr algn="l">
              <a:lnSpc>
                <a:spcPts val="3725"/>
              </a:lnSpc>
            </a:pPr>
            <a:r>
              <a:rPr lang="en-US" sz="2299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299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어두운 골목 — 안전 사각지대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26880" y="2912745"/>
            <a:ext cx="82296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4FC3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심야의 진짜 문제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26880" y="3507105"/>
            <a:ext cx="8229600" cy="197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0"/>
              </a:lnSpc>
            </a:pPr>
            <a:r>
              <a:rPr lang="en-US" sz="10500" b="true">
                <a:solidFill>
                  <a:srgbClr val="FFD74A"/>
                </a:solidFill>
                <a:latin typeface="Arimo Bold"/>
                <a:ea typeface="Arimo Bold"/>
                <a:cs typeface="Arimo Bold"/>
                <a:sym typeface="Arimo Bold"/>
              </a:rPr>
              <a:t>1 ~ 3 km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26880" y="5518785"/>
            <a:ext cx="82296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정류장에서 집까지 — 모든 시스템의 사각지대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26880" y="6652260"/>
            <a:ext cx="8229600" cy="2537460"/>
            <a:chOff x="0" y="0"/>
            <a:chExt cx="10972800" cy="3383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3383280"/>
            </a:xfrm>
            <a:custGeom>
              <a:avLst/>
              <a:gdLst/>
              <a:ahLst/>
              <a:cxnLst/>
              <a:rect r="r" b="b" t="t" l="l"/>
              <a:pathLst>
                <a:path h="3383280" w="10972800">
                  <a:moveTo>
                    <a:pt x="0" y="563880"/>
                  </a:moveTo>
                  <a:cubicBezTo>
                    <a:pt x="0" y="252476"/>
                    <a:pt x="252476" y="0"/>
                    <a:pt x="563880" y="0"/>
                  </a:cubicBezTo>
                  <a:lnTo>
                    <a:pt x="10408920" y="0"/>
                  </a:lnTo>
                  <a:cubicBezTo>
                    <a:pt x="10720324" y="0"/>
                    <a:pt x="10972800" y="252476"/>
                    <a:pt x="10972800" y="563880"/>
                  </a:cubicBezTo>
                  <a:lnTo>
                    <a:pt x="10972800" y="2819400"/>
                  </a:lnTo>
                  <a:cubicBezTo>
                    <a:pt x="10972800" y="3130804"/>
                    <a:pt x="10720324" y="3383280"/>
                    <a:pt x="10408920" y="3383280"/>
                  </a:cubicBezTo>
                  <a:lnTo>
                    <a:pt x="563880" y="3383280"/>
                  </a:lnTo>
                  <a:cubicBezTo>
                    <a:pt x="252476" y="3383280"/>
                    <a:pt x="0" y="3130804"/>
                    <a:pt x="0" y="281940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601200" y="6753225"/>
            <a:ext cx="768096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4FC3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💡 핵심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01200" y="7265670"/>
            <a:ext cx="7680960" cy="122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2699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심야의 진짜 문제는 ‘노선’이 아니라</a:t>
            </a:r>
          </a:p>
          <a:p>
            <a:pPr algn="l">
              <a:lnSpc>
                <a:spcPts val="4859"/>
              </a:lnSpc>
            </a:pPr>
            <a:r>
              <a:rPr lang="en-US" sz="2699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‘마지막 한 구간’이다.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2960" y="9730740"/>
            <a:ext cx="109728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🌙 달빛버스  |  Moonlight Bus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39063" y="237544"/>
            <a:ext cx="1007393" cy="1007393"/>
            <a:chOff x="0" y="0"/>
            <a:chExt cx="1343190" cy="13431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3152" cy="1343152"/>
            </a:xfrm>
            <a:custGeom>
              <a:avLst/>
              <a:gdLst/>
              <a:ahLst/>
              <a:cxnLst/>
              <a:rect r="r" b="b" t="t" l="l"/>
              <a:pathLst>
                <a:path h="1343152" w="1343152">
                  <a:moveTo>
                    <a:pt x="0" y="671576"/>
                  </a:moveTo>
                  <a:cubicBezTo>
                    <a:pt x="0" y="300736"/>
                    <a:pt x="300736" y="0"/>
                    <a:pt x="671576" y="0"/>
                  </a:cubicBezTo>
                  <a:cubicBezTo>
                    <a:pt x="1042416" y="0"/>
                    <a:pt x="1343152" y="300736"/>
                    <a:pt x="1343152" y="671576"/>
                  </a:cubicBezTo>
                  <a:cubicBezTo>
                    <a:pt x="1343152" y="1042416"/>
                    <a:pt x="1042416" y="1343152"/>
                    <a:pt x="671576" y="1343152"/>
                  </a:cubicBezTo>
                  <a:cubicBezTo>
                    <a:pt x="300736" y="1343152"/>
                    <a:pt x="0" y="1042543"/>
                    <a:pt x="0" y="671576"/>
                  </a:cubicBezTo>
                  <a:close/>
                </a:path>
              </a:pathLst>
            </a:custGeom>
            <a:solidFill>
              <a:srgbClr val="FFD166">
                <a:alpha val="67059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17504" y="347358"/>
            <a:ext cx="636765" cy="636765"/>
            <a:chOff x="0" y="0"/>
            <a:chExt cx="849020" cy="849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8995" cy="848995"/>
            </a:xfrm>
            <a:custGeom>
              <a:avLst/>
              <a:gdLst/>
              <a:ahLst/>
              <a:cxnLst/>
              <a:rect r="r" b="b" t="t" l="l"/>
              <a:pathLst>
                <a:path h="848995" w="848995">
                  <a:moveTo>
                    <a:pt x="0" y="424561"/>
                  </a:moveTo>
                  <a:cubicBezTo>
                    <a:pt x="0" y="190119"/>
                    <a:pt x="190119" y="0"/>
                    <a:pt x="424561" y="0"/>
                  </a:cubicBezTo>
                  <a:cubicBezTo>
                    <a:pt x="659003" y="0"/>
                    <a:pt x="848995" y="190119"/>
                    <a:pt x="848995" y="424561"/>
                  </a:cubicBezTo>
                  <a:cubicBezTo>
                    <a:pt x="848995" y="659003"/>
                    <a:pt x="659003" y="848995"/>
                    <a:pt x="424561" y="848995"/>
                  </a:cubicBezTo>
                  <a:cubicBezTo>
                    <a:pt x="190119" y="848995"/>
                    <a:pt x="0" y="659003"/>
                    <a:pt x="0" y="424561"/>
                  </a:cubicBezTo>
                  <a:close/>
                </a:path>
              </a:pathLst>
            </a:custGeom>
            <a:solidFill>
              <a:srgbClr val="080A1A">
                <a:alpha val="8431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7706" y="9773431"/>
            <a:ext cx="4804353" cy="247079"/>
            <a:chOff x="0" y="0"/>
            <a:chExt cx="6405804" cy="3294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05805" cy="329441"/>
            </a:xfrm>
            <a:custGeom>
              <a:avLst/>
              <a:gdLst/>
              <a:ahLst/>
              <a:cxnLst/>
              <a:rect r="r" b="b" t="t" l="l"/>
              <a:pathLst>
                <a:path h="329441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876" r="0" b="-32887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6405804" cy="319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F7890"/>
                  </a:solidFill>
                  <a:latin typeface="Noto Sans"/>
                  <a:ea typeface="Noto Sans"/>
                  <a:cs typeface="Noto Sans"/>
                  <a:sym typeface="Noto Sans"/>
                </a:rPr>
                <a:t>🌙 달빛버스  |  Moonlight Bus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279892" y="9718519"/>
            <a:ext cx="1235402" cy="274539"/>
            <a:chOff x="0" y="0"/>
            <a:chExt cx="1647203" cy="3660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7207" cy="366046"/>
            </a:xfrm>
            <a:custGeom>
              <a:avLst/>
              <a:gdLst/>
              <a:ahLst/>
              <a:cxnLst/>
              <a:rect r="r" b="b" t="t" l="l"/>
              <a:pathLst>
                <a:path h="366046" w="1647207">
                  <a:moveTo>
                    <a:pt x="0" y="0"/>
                  </a:moveTo>
                  <a:lnTo>
                    <a:pt x="1647207" y="0"/>
                  </a:lnTo>
                  <a:lnTo>
                    <a:pt x="164720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1" r="0" b="-3768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647203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6F7890"/>
                  </a:solidFill>
                  <a:latin typeface="Noto Sans"/>
                  <a:ea typeface="Noto Sans"/>
                  <a:cs typeface="Noto Sans"/>
                  <a:sym typeface="Noto Sans"/>
                </a:rPr>
                <a:t>06 / 17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2235" y="576520"/>
            <a:ext cx="3019882" cy="329441"/>
            <a:chOff x="0" y="0"/>
            <a:chExt cx="4026510" cy="4392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26506" cy="439255"/>
            </a:xfrm>
            <a:custGeom>
              <a:avLst/>
              <a:gdLst/>
              <a:ahLst/>
              <a:cxnLst/>
              <a:rect r="r" b="b" t="t" l="l"/>
              <a:pathLst>
                <a:path h="439255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613" r="0" b="-12861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4026510" cy="448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00D9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지역 특성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2235" y="1029500"/>
            <a:ext cx="11667715" cy="843114"/>
            <a:chOff x="0" y="0"/>
            <a:chExt cx="15556954" cy="11241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56954" cy="1124146"/>
            </a:xfrm>
            <a:custGeom>
              <a:avLst/>
              <a:gdLst/>
              <a:ahLst/>
              <a:cxnLst/>
              <a:rect r="r" b="b" t="t" l="l"/>
              <a:pathLst>
                <a:path h="1124146" w="15556954">
                  <a:moveTo>
                    <a:pt x="0" y="0"/>
                  </a:moveTo>
                  <a:lnTo>
                    <a:pt x="15556954" y="0"/>
                  </a:lnTo>
                  <a:lnTo>
                    <a:pt x="15556954" y="1124146"/>
                  </a:lnTo>
                  <a:lnTo>
                    <a:pt x="0" y="11241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3019" r="0" b="-20628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5556954" cy="1124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03"/>
                </a:lnSpc>
              </a:pPr>
              <a:r>
                <a:rPr lang="en-US" sz="4252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같은 1km라도 지역마다 사각지대의 원인은 다르다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9686" y="1702117"/>
            <a:ext cx="12079519" cy="529238"/>
            <a:chOff x="0" y="0"/>
            <a:chExt cx="16106026" cy="7056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106023" cy="705642"/>
            </a:xfrm>
            <a:custGeom>
              <a:avLst/>
              <a:gdLst/>
              <a:ahLst/>
              <a:cxnLst/>
              <a:rect r="r" b="b" t="t" l="l"/>
              <a:pathLst>
                <a:path h="705642" w="16106023">
                  <a:moveTo>
                    <a:pt x="0" y="0"/>
                  </a:moveTo>
                  <a:lnTo>
                    <a:pt x="16106023" y="0"/>
                  </a:lnTo>
                  <a:lnTo>
                    <a:pt x="16106023" y="705642"/>
                  </a:lnTo>
                  <a:lnTo>
                    <a:pt x="0" y="7056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8426" r="0" b="-38105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16106026" cy="69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B8C1D6"/>
                  </a:solidFill>
                  <a:latin typeface="Noto Sans"/>
                  <a:ea typeface="Noto Sans"/>
                  <a:cs typeface="Noto Sans"/>
                  <a:sym typeface="Noto Sans"/>
                </a:rPr>
                <a:t>그래서 하나의 데이터셋·하나의 배차 기준으로는 부족하다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84615" y="2216106"/>
            <a:ext cx="16487318" cy="15250"/>
            <a:chOff x="0" y="0"/>
            <a:chExt cx="21983090" cy="203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83064" cy="20320"/>
            </a:xfrm>
            <a:custGeom>
              <a:avLst/>
              <a:gdLst/>
              <a:ahLst/>
              <a:cxnLst/>
              <a:rect r="r" b="b" t="t" l="l"/>
              <a:pathLst>
                <a:path h="20320" w="21983064">
                  <a:moveTo>
                    <a:pt x="0" y="0"/>
                  </a:moveTo>
                  <a:lnTo>
                    <a:pt x="21983064" y="2032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1029759" r="0" b="-21029822"/>
              </a:stretch>
            </a:blipFill>
            <a:ln w="15252" cap="sq">
              <a:solidFill>
                <a:srgbClr val="2B355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57240" y="2763269"/>
            <a:ext cx="4892050" cy="1885902"/>
            <a:chOff x="0" y="0"/>
            <a:chExt cx="6522733" cy="25145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22847" cy="2514600"/>
            </a:xfrm>
            <a:custGeom>
              <a:avLst/>
              <a:gdLst/>
              <a:ahLst/>
              <a:cxnLst/>
              <a:rect r="r" b="b" t="t" l="l"/>
              <a:pathLst>
                <a:path h="2514600" w="6522847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374892" y="0"/>
                  </a:lnTo>
                  <a:cubicBezTo>
                    <a:pt x="6456553" y="0"/>
                    <a:pt x="6522847" y="66167"/>
                    <a:pt x="6522847" y="147955"/>
                  </a:cubicBezTo>
                  <a:lnTo>
                    <a:pt x="6522847" y="2366645"/>
                  </a:lnTo>
                  <a:cubicBezTo>
                    <a:pt x="6522847" y="2448306"/>
                    <a:pt x="6456680" y="2514600"/>
                    <a:pt x="6374892" y="2514600"/>
                  </a:cubicBezTo>
                  <a:lnTo>
                    <a:pt x="147955" y="2514600"/>
                  </a:lnTo>
                  <a:cubicBezTo>
                    <a:pt x="66167" y="2514473"/>
                    <a:pt x="0" y="2448306"/>
                    <a:pt x="0" y="2366645"/>
                  </a:cubicBezTo>
                  <a:close/>
                </a:path>
              </a:pathLst>
            </a:custGeom>
            <a:solidFill>
              <a:srgbClr val="121A3B"/>
            </a:solidFill>
            <a:ln w="19065" cap="sq">
              <a:solidFill>
                <a:srgbClr val="2B355F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414872" y="3213068"/>
            <a:ext cx="656854" cy="34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🚉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24745" y="3075803"/>
            <a:ext cx="329238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851" b="true">
                <a:solidFill>
                  <a:srgbClr val="00D9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역세권-주거지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24745" y="3624872"/>
            <a:ext cx="3361020" cy="519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5"/>
              </a:lnSpc>
            </a:pPr>
            <a:r>
              <a:rPr lang="en-US" sz="1471">
                <a:solidFill>
                  <a:srgbClr val="B8C1D6"/>
                </a:solidFill>
                <a:latin typeface="Noto Sans"/>
                <a:ea typeface="Noto Sans"/>
                <a:cs typeface="Noto Sans"/>
                <a:sym typeface="Noto Sans"/>
              </a:rPr>
              <a:t>역까지는 왔지만 집 앞까지 연결되지 않음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785200" y="2763269"/>
            <a:ext cx="4892050" cy="1885902"/>
            <a:chOff x="0" y="0"/>
            <a:chExt cx="6522733" cy="25145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22847" cy="2514600"/>
            </a:xfrm>
            <a:custGeom>
              <a:avLst/>
              <a:gdLst/>
              <a:ahLst/>
              <a:cxnLst/>
              <a:rect r="r" b="b" t="t" l="l"/>
              <a:pathLst>
                <a:path h="2514600" w="6522847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374892" y="0"/>
                  </a:lnTo>
                  <a:cubicBezTo>
                    <a:pt x="6456553" y="0"/>
                    <a:pt x="6522847" y="66167"/>
                    <a:pt x="6522847" y="147955"/>
                  </a:cubicBezTo>
                  <a:lnTo>
                    <a:pt x="6522847" y="2366645"/>
                  </a:lnTo>
                  <a:cubicBezTo>
                    <a:pt x="6522847" y="2448306"/>
                    <a:pt x="6456680" y="2514600"/>
                    <a:pt x="6374892" y="2514600"/>
                  </a:cubicBezTo>
                  <a:lnTo>
                    <a:pt x="147955" y="2514600"/>
                  </a:lnTo>
                  <a:cubicBezTo>
                    <a:pt x="66167" y="2514473"/>
                    <a:pt x="0" y="2448306"/>
                    <a:pt x="0" y="2366645"/>
                  </a:cubicBezTo>
                  <a:close/>
                </a:path>
              </a:pathLst>
            </a:custGeom>
            <a:solidFill>
              <a:srgbClr val="121A3B"/>
            </a:solidFill>
            <a:ln w="19065" cap="sq">
              <a:solidFill>
                <a:srgbClr val="FFD166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7042823" y="3213068"/>
            <a:ext cx="656854" cy="34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📚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52705" y="3075803"/>
            <a:ext cx="329238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851" b="true">
                <a:solidFill>
                  <a:srgbClr val="FFD1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학군지형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52705" y="3624872"/>
            <a:ext cx="3361020" cy="519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5"/>
              </a:lnSpc>
            </a:pPr>
            <a:r>
              <a:rPr lang="en-US" sz="1471">
                <a:solidFill>
                  <a:srgbClr val="B8C1D6"/>
                </a:solidFill>
                <a:latin typeface="Noto Sans"/>
                <a:ea typeface="Noto Sans"/>
                <a:cs typeface="Noto Sans"/>
                <a:sym typeface="Noto Sans"/>
              </a:rPr>
              <a:t>학원 종료 시간에 학생 귀가 수요 집중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413151" y="2763269"/>
            <a:ext cx="4892050" cy="1885902"/>
            <a:chOff x="0" y="0"/>
            <a:chExt cx="6522733" cy="25145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22847" cy="2514600"/>
            </a:xfrm>
            <a:custGeom>
              <a:avLst/>
              <a:gdLst/>
              <a:ahLst/>
              <a:cxnLst/>
              <a:rect r="r" b="b" t="t" l="l"/>
              <a:pathLst>
                <a:path h="2514600" w="6522847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374892" y="0"/>
                  </a:lnTo>
                  <a:cubicBezTo>
                    <a:pt x="6456553" y="0"/>
                    <a:pt x="6522847" y="66167"/>
                    <a:pt x="6522847" y="147955"/>
                  </a:cubicBezTo>
                  <a:lnTo>
                    <a:pt x="6522847" y="2366645"/>
                  </a:lnTo>
                  <a:cubicBezTo>
                    <a:pt x="6522847" y="2448306"/>
                    <a:pt x="6456680" y="2514600"/>
                    <a:pt x="6374892" y="2514600"/>
                  </a:cubicBezTo>
                  <a:lnTo>
                    <a:pt x="147955" y="2514600"/>
                  </a:lnTo>
                  <a:cubicBezTo>
                    <a:pt x="66167" y="2514473"/>
                    <a:pt x="0" y="2448306"/>
                    <a:pt x="0" y="2366645"/>
                  </a:cubicBezTo>
                  <a:close/>
                </a:path>
              </a:pathLst>
            </a:custGeom>
            <a:solidFill>
              <a:srgbClr val="121A3B"/>
            </a:solidFill>
            <a:ln w="19065" cap="sq">
              <a:solidFill>
                <a:srgbClr val="2B355F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2670784" y="3213068"/>
            <a:ext cx="656854" cy="34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⛰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480656" y="3075803"/>
            <a:ext cx="329238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851" b="true">
                <a:solidFill>
                  <a:srgbClr val="00D9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언덕·골목형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480656" y="3624872"/>
            <a:ext cx="3361020" cy="519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5"/>
              </a:lnSpc>
            </a:pPr>
            <a:r>
              <a:rPr lang="en-US" sz="1471">
                <a:solidFill>
                  <a:srgbClr val="B8C1D6"/>
                </a:solidFill>
                <a:latin typeface="Noto Sans"/>
                <a:ea typeface="Noto Sans"/>
                <a:cs typeface="Noto Sans"/>
                <a:sym typeface="Noto Sans"/>
              </a:rPr>
              <a:t>짧은 거리도 경사·어두운 길로 이동 장벽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57240" y="5302710"/>
            <a:ext cx="4892050" cy="1885902"/>
            <a:chOff x="0" y="0"/>
            <a:chExt cx="6522733" cy="25145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22847" cy="2514600"/>
            </a:xfrm>
            <a:custGeom>
              <a:avLst/>
              <a:gdLst/>
              <a:ahLst/>
              <a:cxnLst/>
              <a:rect r="r" b="b" t="t" l="l"/>
              <a:pathLst>
                <a:path h="2514600" w="6522847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374892" y="0"/>
                  </a:lnTo>
                  <a:cubicBezTo>
                    <a:pt x="6456553" y="0"/>
                    <a:pt x="6522847" y="66167"/>
                    <a:pt x="6522847" y="147955"/>
                  </a:cubicBezTo>
                  <a:lnTo>
                    <a:pt x="6522847" y="2366645"/>
                  </a:lnTo>
                  <a:cubicBezTo>
                    <a:pt x="6522847" y="2448306"/>
                    <a:pt x="6456680" y="2514600"/>
                    <a:pt x="6374892" y="2514600"/>
                  </a:cubicBezTo>
                  <a:lnTo>
                    <a:pt x="147955" y="2514600"/>
                  </a:lnTo>
                  <a:cubicBezTo>
                    <a:pt x="66167" y="2514473"/>
                    <a:pt x="0" y="2448306"/>
                    <a:pt x="0" y="2366645"/>
                  </a:cubicBezTo>
                  <a:close/>
                </a:path>
              </a:pathLst>
            </a:custGeom>
            <a:solidFill>
              <a:srgbClr val="121A3B"/>
            </a:solidFill>
            <a:ln w="19065" cap="sq">
              <a:solidFill>
                <a:srgbClr val="2B355F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414872" y="5752509"/>
            <a:ext cx="656854" cy="34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🏥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24745" y="5615245"/>
            <a:ext cx="329238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851" b="true">
                <a:solidFill>
                  <a:srgbClr val="00D9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병원·복지시설형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24745" y="6164313"/>
            <a:ext cx="3361020" cy="519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5"/>
              </a:lnSpc>
            </a:pPr>
            <a:r>
              <a:rPr lang="en-US" sz="1471">
                <a:solidFill>
                  <a:srgbClr val="B8C1D6"/>
                </a:solidFill>
                <a:latin typeface="Noto Sans"/>
                <a:ea typeface="Noto Sans"/>
                <a:cs typeface="Noto Sans"/>
                <a:sym typeface="Noto Sans"/>
              </a:rPr>
              <a:t>고령층에게 1km는 의료 접근성 문제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785200" y="5302710"/>
            <a:ext cx="4892050" cy="1885902"/>
            <a:chOff x="0" y="0"/>
            <a:chExt cx="6522733" cy="25145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22847" cy="2514600"/>
            </a:xfrm>
            <a:custGeom>
              <a:avLst/>
              <a:gdLst/>
              <a:ahLst/>
              <a:cxnLst/>
              <a:rect r="r" b="b" t="t" l="l"/>
              <a:pathLst>
                <a:path h="2514600" w="6522847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6374892" y="0"/>
                  </a:lnTo>
                  <a:cubicBezTo>
                    <a:pt x="6456553" y="0"/>
                    <a:pt x="6522847" y="66167"/>
                    <a:pt x="6522847" y="147955"/>
                  </a:cubicBezTo>
                  <a:lnTo>
                    <a:pt x="6522847" y="2366645"/>
                  </a:lnTo>
                  <a:cubicBezTo>
                    <a:pt x="6522847" y="2448306"/>
                    <a:pt x="6456680" y="2514600"/>
                    <a:pt x="6374892" y="2514600"/>
                  </a:cubicBezTo>
                  <a:lnTo>
                    <a:pt x="147955" y="2514600"/>
                  </a:lnTo>
                  <a:cubicBezTo>
                    <a:pt x="66167" y="2514473"/>
                    <a:pt x="0" y="2448306"/>
                    <a:pt x="0" y="2366645"/>
                  </a:cubicBezTo>
                  <a:close/>
                </a:path>
              </a:pathLst>
            </a:custGeom>
            <a:solidFill>
              <a:srgbClr val="121A3B"/>
            </a:solidFill>
            <a:ln w="19065" cap="sq">
              <a:solidFill>
                <a:srgbClr val="2B355F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7042823" y="5752509"/>
            <a:ext cx="656854" cy="34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7FAFF"/>
                </a:solidFill>
                <a:latin typeface="Noto Sans"/>
                <a:ea typeface="Noto Sans"/>
                <a:cs typeface="Noto Sans"/>
                <a:sym typeface="Noto Sans"/>
              </a:rPr>
              <a:t>🎓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852705" y="5615245"/>
            <a:ext cx="329238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851" b="true">
                <a:solidFill>
                  <a:srgbClr val="00D9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대학가형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852705" y="6164313"/>
            <a:ext cx="3361020" cy="519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5"/>
              </a:lnSpc>
            </a:pPr>
            <a:r>
              <a:rPr lang="en-US" sz="1471">
                <a:solidFill>
                  <a:srgbClr val="B8C1D6"/>
                </a:solidFill>
                <a:latin typeface="Noto Sans"/>
                <a:ea typeface="Noto Sans"/>
                <a:cs typeface="Noto Sans"/>
                <a:sym typeface="Noto Sans"/>
              </a:rPr>
              <a:t>역·기숙사·원룸촌·상권 사이 야간 이동 반복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666435" y="8296161"/>
            <a:ext cx="131981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2"/>
              </a:lnSpc>
            </a:pPr>
            <a:r>
              <a:rPr lang="en-US" sz="3176" b="true">
                <a:solidFill>
                  <a:srgbClr val="FFD1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결론: 기존 DRT의 “일괄 데이터 구성”은 지역별 사각지대를 정확히 잡기 어렵다.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4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2960" y="335280"/>
            <a:ext cx="109728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기존 시스템 진단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2960" y="754380"/>
            <a:ext cx="548640" cy="82296"/>
            <a:chOff x="0" y="0"/>
            <a:chExt cx="731520" cy="109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1520" cy="109728"/>
            </a:xfrm>
            <a:custGeom>
              <a:avLst/>
              <a:gdLst/>
              <a:ahLst/>
              <a:cxnLst/>
              <a:rect r="r" b="b" t="t" l="l"/>
              <a:pathLst>
                <a:path h="10972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D74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3017520"/>
            <a:ext cx="5554980" cy="6309360"/>
            <a:chOff x="0" y="0"/>
            <a:chExt cx="7406640" cy="84124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0664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406640">
                  <a:moveTo>
                    <a:pt x="0" y="1234440"/>
                  </a:moveTo>
                  <a:cubicBezTo>
                    <a:pt x="0" y="552704"/>
                    <a:pt x="552704" y="0"/>
                    <a:pt x="1234440" y="0"/>
                  </a:cubicBezTo>
                  <a:lnTo>
                    <a:pt x="6172200" y="0"/>
                  </a:lnTo>
                  <a:cubicBezTo>
                    <a:pt x="6853936" y="0"/>
                    <a:pt x="7406640" y="552704"/>
                    <a:pt x="7406640" y="1234440"/>
                  </a:cubicBezTo>
                  <a:lnTo>
                    <a:pt x="7406640" y="7178040"/>
                  </a:lnTo>
                  <a:cubicBezTo>
                    <a:pt x="7406640" y="7859776"/>
                    <a:pt x="6853936" y="8412480"/>
                    <a:pt x="6172200" y="8412480"/>
                  </a:cubicBezTo>
                  <a:lnTo>
                    <a:pt x="1234440" y="8412480"/>
                  </a:lnTo>
                  <a:cubicBezTo>
                    <a:pt x="552704" y="8412480"/>
                    <a:pt x="0" y="7859776"/>
                    <a:pt x="0" y="717804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3017520"/>
            <a:ext cx="5554980" cy="137160"/>
            <a:chOff x="0" y="0"/>
            <a:chExt cx="7406640" cy="182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E54B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4440" y="7749540"/>
            <a:ext cx="4732020" cy="1165860"/>
            <a:chOff x="0" y="0"/>
            <a:chExt cx="6309360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09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309360">
                  <a:moveTo>
                    <a:pt x="0" y="259080"/>
                  </a:moveTo>
                  <a:cubicBezTo>
                    <a:pt x="0" y="115951"/>
                    <a:pt x="115951" y="0"/>
                    <a:pt x="259080" y="0"/>
                  </a:cubicBezTo>
                  <a:lnTo>
                    <a:pt x="6050280" y="0"/>
                  </a:lnTo>
                  <a:cubicBezTo>
                    <a:pt x="6193409" y="0"/>
                    <a:pt x="6309360" y="115951"/>
                    <a:pt x="6309360" y="259080"/>
                  </a:cubicBezTo>
                  <a:lnTo>
                    <a:pt x="6309360" y="1295400"/>
                  </a:lnTo>
                  <a:cubicBezTo>
                    <a:pt x="6309360" y="1438529"/>
                    <a:pt x="6193409" y="1554480"/>
                    <a:pt x="6050280" y="1554480"/>
                  </a:cubicBezTo>
                  <a:lnTo>
                    <a:pt x="259080" y="1554480"/>
                  </a:lnTo>
                  <a:cubicBezTo>
                    <a:pt x="115951" y="1554480"/>
                    <a:pt x="0" y="1438529"/>
                    <a:pt x="0" y="1295400"/>
                  </a:cubicBezTo>
                  <a:close/>
                </a:path>
              </a:pathLst>
            </a:custGeom>
            <a:solidFill>
              <a:srgbClr val="0B142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7749540"/>
            <a:ext cx="4732020" cy="1165860"/>
            <a:chOff x="0" y="0"/>
            <a:chExt cx="630936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09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86" r="0" b="-2908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6309360" cy="165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99"/>
                </a:lnSpc>
              </a:pPr>
              <a:r>
                <a:rPr lang="en-US" sz="2199" b="true">
                  <a:solidFill>
                    <a:srgbClr val="FFD7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강남구 주거 건축물 접근성  45.1%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83680" y="3017520"/>
            <a:ext cx="5554980" cy="6309360"/>
            <a:chOff x="0" y="0"/>
            <a:chExt cx="7406640" cy="8412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0664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406640">
                  <a:moveTo>
                    <a:pt x="0" y="1234440"/>
                  </a:moveTo>
                  <a:cubicBezTo>
                    <a:pt x="0" y="552704"/>
                    <a:pt x="552704" y="0"/>
                    <a:pt x="1234440" y="0"/>
                  </a:cubicBezTo>
                  <a:lnTo>
                    <a:pt x="6172200" y="0"/>
                  </a:lnTo>
                  <a:cubicBezTo>
                    <a:pt x="6853936" y="0"/>
                    <a:pt x="7406640" y="552704"/>
                    <a:pt x="7406640" y="1234440"/>
                  </a:cubicBezTo>
                  <a:lnTo>
                    <a:pt x="7406640" y="7178040"/>
                  </a:lnTo>
                  <a:cubicBezTo>
                    <a:pt x="7406640" y="7859776"/>
                    <a:pt x="6853936" y="8412480"/>
                    <a:pt x="6172200" y="8412480"/>
                  </a:cubicBezTo>
                  <a:lnTo>
                    <a:pt x="1234440" y="8412480"/>
                  </a:lnTo>
                  <a:cubicBezTo>
                    <a:pt x="552704" y="8412480"/>
                    <a:pt x="0" y="7859776"/>
                    <a:pt x="0" y="717804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583680" y="3017520"/>
            <a:ext cx="5554980" cy="137160"/>
            <a:chOff x="0" y="0"/>
            <a:chExt cx="7406640" cy="182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F69A3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995160" y="7749540"/>
            <a:ext cx="4732020" cy="1165860"/>
            <a:chOff x="0" y="0"/>
            <a:chExt cx="6309360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09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309360">
                  <a:moveTo>
                    <a:pt x="0" y="259080"/>
                  </a:moveTo>
                  <a:cubicBezTo>
                    <a:pt x="0" y="115951"/>
                    <a:pt x="115951" y="0"/>
                    <a:pt x="259080" y="0"/>
                  </a:cubicBezTo>
                  <a:lnTo>
                    <a:pt x="6050280" y="0"/>
                  </a:lnTo>
                  <a:cubicBezTo>
                    <a:pt x="6193409" y="0"/>
                    <a:pt x="6309360" y="115951"/>
                    <a:pt x="6309360" y="259080"/>
                  </a:cubicBezTo>
                  <a:lnTo>
                    <a:pt x="6309360" y="1295400"/>
                  </a:lnTo>
                  <a:cubicBezTo>
                    <a:pt x="6309360" y="1438529"/>
                    <a:pt x="6193409" y="1554480"/>
                    <a:pt x="6050280" y="1554480"/>
                  </a:cubicBezTo>
                  <a:lnTo>
                    <a:pt x="259080" y="1554480"/>
                  </a:lnTo>
                  <a:cubicBezTo>
                    <a:pt x="115951" y="1554480"/>
                    <a:pt x="0" y="1438529"/>
                    <a:pt x="0" y="1295400"/>
                  </a:cubicBezTo>
                  <a:close/>
                </a:path>
              </a:pathLst>
            </a:custGeom>
            <a:solidFill>
              <a:srgbClr val="0B142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95160" y="7749540"/>
            <a:ext cx="4732020" cy="1165860"/>
            <a:chOff x="0" y="0"/>
            <a:chExt cx="6309360" cy="1554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09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86" r="0" b="-2908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04775"/>
              <a:ext cx="6309360" cy="165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99"/>
                </a:lnSpc>
              </a:pPr>
              <a:r>
                <a:rPr lang="en-US" sz="2199" b="true">
                  <a:solidFill>
                    <a:srgbClr val="FFD7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심야 운영시간 사실상 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344400" y="3017520"/>
            <a:ext cx="5554980" cy="6309360"/>
            <a:chOff x="0" y="0"/>
            <a:chExt cx="7406640" cy="8412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0664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406640">
                  <a:moveTo>
                    <a:pt x="0" y="1234440"/>
                  </a:moveTo>
                  <a:cubicBezTo>
                    <a:pt x="0" y="552704"/>
                    <a:pt x="552704" y="0"/>
                    <a:pt x="1234440" y="0"/>
                  </a:cubicBezTo>
                  <a:lnTo>
                    <a:pt x="6172200" y="0"/>
                  </a:lnTo>
                  <a:cubicBezTo>
                    <a:pt x="6853936" y="0"/>
                    <a:pt x="7406640" y="552704"/>
                    <a:pt x="7406640" y="1234440"/>
                  </a:cubicBezTo>
                  <a:lnTo>
                    <a:pt x="7406640" y="7178040"/>
                  </a:lnTo>
                  <a:cubicBezTo>
                    <a:pt x="7406640" y="7859776"/>
                    <a:pt x="6853936" y="8412480"/>
                    <a:pt x="6172200" y="8412480"/>
                  </a:cubicBezTo>
                  <a:lnTo>
                    <a:pt x="1234440" y="8412480"/>
                  </a:lnTo>
                  <a:cubicBezTo>
                    <a:pt x="552704" y="8412480"/>
                    <a:pt x="0" y="7859776"/>
                    <a:pt x="0" y="717804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344400" y="3017520"/>
            <a:ext cx="5554980" cy="137160"/>
            <a:chOff x="0" y="0"/>
            <a:chExt cx="7406640" cy="182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FC3F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755880" y="7749540"/>
            <a:ext cx="4732020" cy="1165860"/>
            <a:chOff x="0" y="0"/>
            <a:chExt cx="6309360" cy="1554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09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309360">
                  <a:moveTo>
                    <a:pt x="0" y="259080"/>
                  </a:moveTo>
                  <a:cubicBezTo>
                    <a:pt x="0" y="115951"/>
                    <a:pt x="115951" y="0"/>
                    <a:pt x="259080" y="0"/>
                  </a:cubicBezTo>
                  <a:lnTo>
                    <a:pt x="6050280" y="0"/>
                  </a:lnTo>
                  <a:cubicBezTo>
                    <a:pt x="6193409" y="0"/>
                    <a:pt x="6309360" y="115951"/>
                    <a:pt x="6309360" y="259080"/>
                  </a:cubicBezTo>
                  <a:lnTo>
                    <a:pt x="6309360" y="1295400"/>
                  </a:lnTo>
                  <a:cubicBezTo>
                    <a:pt x="6309360" y="1438529"/>
                    <a:pt x="6193409" y="1554480"/>
                    <a:pt x="6050280" y="1554480"/>
                  </a:cubicBezTo>
                  <a:lnTo>
                    <a:pt x="259080" y="1554480"/>
                  </a:lnTo>
                  <a:cubicBezTo>
                    <a:pt x="115951" y="1554480"/>
                    <a:pt x="0" y="1438529"/>
                    <a:pt x="0" y="1295400"/>
                  </a:cubicBezTo>
                  <a:close/>
                </a:path>
              </a:pathLst>
            </a:custGeom>
            <a:solidFill>
              <a:srgbClr val="0B142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755880" y="7749540"/>
            <a:ext cx="4732020" cy="1165860"/>
            <a:chOff x="0" y="0"/>
            <a:chExt cx="6309360" cy="1554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09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86" r="0" b="-2908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04775"/>
              <a:ext cx="6309360" cy="165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49"/>
                </a:lnSpc>
              </a:pPr>
              <a:r>
                <a:rPr lang="en-US" sz="2099" b="true">
                  <a:solidFill>
                    <a:srgbClr val="FFD7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우회시간·대기시간을 통제하는</a:t>
              </a:r>
            </a:p>
            <a:p>
              <a:pPr algn="ctr">
                <a:lnSpc>
                  <a:spcPts val="3149"/>
                </a:lnSpc>
              </a:pPr>
              <a:r>
                <a:rPr lang="en-US" sz="2099" b="true">
                  <a:solidFill>
                    <a:srgbClr val="FFD7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예측·최적화가 중요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6459200" y="354330"/>
            <a:ext cx="164592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500">
                <a:solidFill>
                  <a:srgbClr val="B8C0CC"/>
                </a:solidFill>
                <a:latin typeface="Arimo"/>
                <a:ea typeface="Arimo"/>
                <a:cs typeface="Arimo"/>
                <a:sym typeface="Arimo"/>
              </a:rPr>
              <a:t>03 / 07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22960" y="741045"/>
            <a:ext cx="16459200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4500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기존 시스템은 ‘마지막 1km’를 풀지 못한다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22960" y="1805940"/>
            <a:ext cx="164592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4FC3F7"/>
                </a:solidFill>
                <a:latin typeface="Calibri (MS)"/>
                <a:ea typeface="Calibri (MS)"/>
                <a:cs typeface="Calibri (MS)"/>
                <a:sym typeface="Calibri (MS)"/>
              </a:rPr>
              <a:t>노선형도, 마을버스도, 호출형 DRT도 — 각자의 한계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22960" y="3141345"/>
            <a:ext cx="5554980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0"/>
              </a:lnSpc>
            </a:pPr>
            <a:r>
              <a:rPr lang="en-US" sz="450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🚌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22960" y="4255770"/>
            <a:ext cx="5554980" cy="55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4"/>
              </a:lnSpc>
            </a:pPr>
            <a:r>
              <a:rPr lang="en-US" sz="2849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심야버스 (N버스)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4440" y="5122545"/>
            <a:ext cx="4800600" cy="105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299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주요 간선만 운행</a:t>
            </a:r>
          </a:p>
          <a:p>
            <a:pPr algn="ctr">
              <a:lnSpc>
                <a:spcPts val="4139"/>
              </a:lnSpc>
            </a:pPr>
            <a:r>
              <a:rPr lang="en-US" sz="2299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주거지 말단부 도달률 낮음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583680" y="3141345"/>
            <a:ext cx="5554980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0"/>
              </a:lnSpc>
            </a:pPr>
            <a:r>
              <a:rPr lang="en-US" sz="450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🚐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583680" y="4255770"/>
            <a:ext cx="5554980" cy="55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4"/>
              </a:lnSpc>
            </a:pPr>
            <a:r>
              <a:rPr lang="en-US" sz="2849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마을버스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95160" y="5122545"/>
            <a:ext cx="4800600" cy="157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299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심야 운행 부재</a:t>
            </a:r>
          </a:p>
          <a:p>
            <a:pPr algn="ctr">
              <a:lnSpc>
                <a:spcPts val="4139"/>
              </a:lnSpc>
            </a:pPr>
            <a:r>
              <a:rPr lang="en-US" sz="2299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고정 노선·고정 배차로</a:t>
            </a:r>
          </a:p>
          <a:p>
            <a:pPr algn="ctr">
              <a:lnSpc>
                <a:spcPts val="4139"/>
              </a:lnSpc>
            </a:pPr>
            <a:r>
              <a:rPr lang="en-US" sz="2299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불규칙 수요 대응 어려움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344400" y="3141345"/>
            <a:ext cx="5554980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0"/>
              </a:lnSpc>
            </a:pPr>
            <a:r>
              <a:rPr lang="en-US" sz="450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📱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44400" y="4255770"/>
            <a:ext cx="5554980" cy="55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4"/>
              </a:lnSpc>
            </a:pPr>
            <a:r>
              <a:rPr lang="en-US" sz="2849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기존 DRT 서비스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755880" y="5113020"/>
            <a:ext cx="4800600" cy="224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9"/>
              </a:lnSpc>
            </a:pPr>
            <a:r>
              <a:rPr lang="en-US" sz="2499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지역 맞춤형 데이터 부족</a:t>
            </a:r>
          </a:p>
          <a:p>
            <a:pPr algn="ctr">
              <a:lnSpc>
                <a:spcPts val="4499"/>
              </a:lnSpc>
            </a:pPr>
            <a:r>
              <a:rPr lang="en-US" sz="2499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안전 우선순위 부족</a:t>
            </a:r>
          </a:p>
          <a:p>
            <a:pPr algn="ctr">
              <a:lnSpc>
                <a:spcPts val="4499"/>
              </a:lnSpc>
            </a:pPr>
            <a:r>
              <a:rPr lang="en-US" sz="2499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동적 경로 비효율</a:t>
            </a:r>
          </a:p>
          <a:p>
            <a:pPr algn="ctr">
              <a:lnSpc>
                <a:spcPts val="4499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822960" y="9730740"/>
            <a:ext cx="109728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🌙 달빛버스  |  Moonlight Bus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4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548640" cy="82296"/>
            <a:chOff x="0" y="0"/>
            <a:chExt cx="731520" cy="1097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109728"/>
            </a:xfrm>
            <a:custGeom>
              <a:avLst/>
              <a:gdLst/>
              <a:ahLst/>
              <a:cxnLst/>
              <a:rect r="r" b="b" t="t" l="l"/>
              <a:pathLst>
                <a:path h="10972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D74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5830" y="2729484"/>
            <a:ext cx="12618720" cy="6446520"/>
            <a:chOff x="0" y="0"/>
            <a:chExt cx="16824960" cy="8595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24961" cy="8595360"/>
            </a:xfrm>
            <a:custGeom>
              <a:avLst/>
              <a:gdLst/>
              <a:ahLst/>
              <a:cxnLst/>
              <a:rect r="r" b="b" t="t" l="l"/>
              <a:pathLst>
                <a:path h="8595360" w="16824961">
                  <a:moveTo>
                    <a:pt x="0" y="1432560"/>
                  </a:moveTo>
                  <a:cubicBezTo>
                    <a:pt x="0" y="641350"/>
                    <a:pt x="786723" y="0"/>
                    <a:pt x="1757274" y="0"/>
                  </a:cubicBezTo>
                  <a:lnTo>
                    <a:pt x="15067686" y="0"/>
                  </a:lnTo>
                  <a:cubicBezTo>
                    <a:pt x="16038238" y="0"/>
                    <a:pt x="16824961" y="641350"/>
                    <a:pt x="16824961" y="1432560"/>
                  </a:cubicBezTo>
                  <a:lnTo>
                    <a:pt x="16824961" y="7162800"/>
                  </a:lnTo>
                  <a:cubicBezTo>
                    <a:pt x="16824961" y="7954010"/>
                    <a:pt x="16038238" y="8595360"/>
                    <a:pt x="15067686" y="8595360"/>
                  </a:cubicBezTo>
                  <a:lnTo>
                    <a:pt x="1757274" y="8595360"/>
                  </a:lnTo>
                  <a:cubicBezTo>
                    <a:pt x="786723" y="8595360"/>
                    <a:pt x="0" y="7954010"/>
                    <a:pt x="0" y="7162800"/>
                  </a:cubicBezTo>
                  <a:close/>
                </a:path>
              </a:pathLst>
            </a:custGeom>
            <a:blipFill>
              <a:blip r:embed="rId2"/>
              <a:stretch>
                <a:fillRect l="-917" t="0" r="-91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01800" y="3662172"/>
            <a:ext cx="2468880" cy="192024"/>
            <a:chOff x="0" y="0"/>
            <a:chExt cx="3291840" cy="2560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91840" cy="256032"/>
            </a:xfrm>
            <a:custGeom>
              <a:avLst/>
              <a:gdLst/>
              <a:ahLst/>
              <a:cxnLst/>
              <a:rect r="r" b="b" t="t" l="l"/>
              <a:pathLst>
                <a:path h="2560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0B142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401800" y="3662172"/>
            <a:ext cx="1901038" cy="192024"/>
            <a:chOff x="0" y="0"/>
            <a:chExt cx="2534717" cy="2560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34666" cy="256032"/>
            </a:xfrm>
            <a:custGeom>
              <a:avLst/>
              <a:gdLst/>
              <a:ahLst/>
              <a:cxnLst/>
              <a:rect r="r" b="b" t="t" l="l"/>
              <a:pathLst>
                <a:path h="256032" w="2534666">
                  <a:moveTo>
                    <a:pt x="0" y="0"/>
                  </a:moveTo>
                  <a:lnTo>
                    <a:pt x="2534666" y="0"/>
                  </a:lnTo>
                  <a:lnTo>
                    <a:pt x="2534666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E54B4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01800" y="4155948"/>
            <a:ext cx="2468880" cy="192024"/>
            <a:chOff x="0" y="0"/>
            <a:chExt cx="3291840" cy="2560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91840" cy="256032"/>
            </a:xfrm>
            <a:custGeom>
              <a:avLst/>
              <a:gdLst/>
              <a:ahLst/>
              <a:cxnLst/>
              <a:rect r="r" b="b" t="t" l="l"/>
              <a:pathLst>
                <a:path h="2560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0B142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01800" y="4155948"/>
            <a:ext cx="1901038" cy="192024"/>
            <a:chOff x="0" y="0"/>
            <a:chExt cx="2534717" cy="2560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34666" cy="256032"/>
            </a:xfrm>
            <a:custGeom>
              <a:avLst/>
              <a:gdLst/>
              <a:ahLst/>
              <a:cxnLst/>
              <a:rect r="r" b="b" t="t" l="l"/>
              <a:pathLst>
                <a:path h="256032" w="2534666">
                  <a:moveTo>
                    <a:pt x="0" y="0"/>
                  </a:moveTo>
                  <a:lnTo>
                    <a:pt x="2534666" y="0"/>
                  </a:lnTo>
                  <a:lnTo>
                    <a:pt x="2534666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E54B4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401800" y="4649724"/>
            <a:ext cx="2468880" cy="192024"/>
            <a:chOff x="0" y="0"/>
            <a:chExt cx="3291840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91840" cy="256032"/>
            </a:xfrm>
            <a:custGeom>
              <a:avLst/>
              <a:gdLst/>
              <a:ahLst/>
              <a:cxnLst/>
              <a:rect r="r" b="b" t="t" l="l"/>
              <a:pathLst>
                <a:path h="2560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0B142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401800" y="4649724"/>
            <a:ext cx="1851660" cy="192024"/>
            <a:chOff x="0" y="0"/>
            <a:chExt cx="2468880" cy="2560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68880" cy="256032"/>
            </a:xfrm>
            <a:custGeom>
              <a:avLst/>
              <a:gdLst/>
              <a:ahLst/>
              <a:cxnLst/>
              <a:rect r="r" b="b" t="t" l="l"/>
              <a:pathLst>
                <a:path h="25603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E54B4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401800" y="5143500"/>
            <a:ext cx="2468880" cy="192024"/>
            <a:chOff x="0" y="0"/>
            <a:chExt cx="3291840" cy="2560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91840" cy="256032"/>
            </a:xfrm>
            <a:custGeom>
              <a:avLst/>
              <a:gdLst/>
              <a:ahLst/>
              <a:cxnLst/>
              <a:rect r="r" b="b" t="t" l="l"/>
              <a:pathLst>
                <a:path h="2560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0B142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401800" y="5143500"/>
            <a:ext cx="1851660" cy="192024"/>
            <a:chOff x="0" y="0"/>
            <a:chExt cx="2468880" cy="2560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68880" cy="256032"/>
            </a:xfrm>
            <a:custGeom>
              <a:avLst/>
              <a:gdLst/>
              <a:ahLst/>
              <a:cxnLst/>
              <a:rect r="r" b="b" t="t" l="l"/>
              <a:pathLst>
                <a:path h="25603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E54B4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401800" y="5637276"/>
            <a:ext cx="2468880" cy="192024"/>
            <a:chOff x="0" y="0"/>
            <a:chExt cx="3291840" cy="2560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91840" cy="256032"/>
            </a:xfrm>
            <a:custGeom>
              <a:avLst/>
              <a:gdLst/>
              <a:ahLst/>
              <a:cxnLst/>
              <a:rect r="r" b="b" t="t" l="l"/>
              <a:pathLst>
                <a:path h="2560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0B142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401800" y="5637276"/>
            <a:ext cx="1678838" cy="192024"/>
            <a:chOff x="0" y="0"/>
            <a:chExt cx="2238451" cy="2560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38502" cy="256032"/>
            </a:xfrm>
            <a:custGeom>
              <a:avLst/>
              <a:gdLst/>
              <a:ahLst/>
              <a:cxnLst/>
              <a:rect r="r" b="b" t="t" l="l"/>
              <a:pathLst>
                <a:path h="256032" w="2238502">
                  <a:moveTo>
                    <a:pt x="0" y="0"/>
                  </a:moveTo>
                  <a:lnTo>
                    <a:pt x="2238502" y="0"/>
                  </a:lnTo>
                  <a:lnTo>
                    <a:pt x="2238502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E54B4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521440" y="8572500"/>
            <a:ext cx="6172200" cy="891540"/>
            <a:chOff x="0" y="0"/>
            <a:chExt cx="8229600" cy="1188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9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229600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8031480" y="0"/>
                  </a:lnTo>
                  <a:cubicBezTo>
                    <a:pt x="8140954" y="0"/>
                    <a:pt x="8229600" y="88646"/>
                    <a:pt x="8229600" y="198120"/>
                  </a:cubicBezTo>
                  <a:lnTo>
                    <a:pt x="8229600" y="990600"/>
                  </a:lnTo>
                  <a:cubicBezTo>
                    <a:pt x="8229600" y="1100074"/>
                    <a:pt x="8140954" y="1188720"/>
                    <a:pt x="8031480" y="1188720"/>
                  </a:cubicBezTo>
                  <a:lnTo>
                    <a:pt x="198120" y="1188720"/>
                  </a:lnTo>
                  <a:cubicBezTo>
                    <a:pt x="88646" y="1188720"/>
                    <a:pt x="0" y="1100074"/>
                    <a:pt x="0" y="99060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658600" y="8572500"/>
            <a:ext cx="5897880" cy="891540"/>
            <a:chOff x="0" y="0"/>
            <a:chExt cx="7863840" cy="1188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8638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01" r="0" b="-7890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786384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4"/>
                </a:lnSpc>
              </a:pPr>
              <a:r>
                <a:rPr lang="en-US" sz="1650" b="true">
                  <a:solidFill>
                    <a:srgbClr val="FFD7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일원·수서·세곡 = 강남 동남부</a:t>
              </a:r>
            </a:p>
            <a:p>
              <a:pPr algn="l">
                <a:lnSpc>
                  <a:spcPts val="2574"/>
                </a:lnSpc>
              </a:pPr>
              <a:r>
                <a:rPr lang="en-US" sz="1650" b="true">
                  <a:solidFill>
                    <a:srgbClr val="FFD7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 실제 심야 사각지대와 일치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6459200" y="354330"/>
            <a:ext cx="164592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500">
                <a:solidFill>
                  <a:srgbClr val="B8C0CC"/>
                </a:solidFill>
                <a:latin typeface="Arimo"/>
                <a:ea typeface="Arimo"/>
                <a:cs typeface="Arimo"/>
                <a:sym typeface="Arimo"/>
              </a:rPr>
              <a:t>05 / 07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22960" y="741045"/>
            <a:ext cx="16459200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4500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강남구 실데이터 PoC — 한 장의 지도가 보여주는 것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22960" y="1805940"/>
            <a:ext cx="164592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4FC3F7"/>
                </a:solidFill>
                <a:latin typeface="Calibri (MS)"/>
                <a:ea typeface="Calibri (MS)"/>
                <a:cs typeface="Calibri (MS)"/>
                <a:sym typeface="Calibri (MS)"/>
              </a:rPr>
              <a:t>행정동 22개 + 정류장 564개 실데이터 위에 위험지수 시각화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521440" y="2775585"/>
            <a:ext cx="61722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4FC3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🚨 위험지수 TOP 5 (사각지대)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521440" y="3499485"/>
            <a:ext cx="274320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#1  일원본동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939260" y="3509010"/>
            <a:ext cx="68580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b="true">
                <a:solidFill>
                  <a:srgbClr val="FFD74A"/>
                </a:solidFill>
                <a:latin typeface="Arimo Bold"/>
                <a:ea typeface="Arimo Bold"/>
                <a:cs typeface="Arimo Bold"/>
                <a:sym typeface="Arimo Bold"/>
              </a:rPr>
              <a:t>0.77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521440" y="3993261"/>
            <a:ext cx="274320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#2  일원1동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939260" y="4002786"/>
            <a:ext cx="68580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b="true">
                <a:solidFill>
                  <a:srgbClr val="FFD74A"/>
                </a:solidFill>
                <a:latin typeface="Arimo Bold"/>
                <a:ea typeface="Arimo Bold"/>
                <a:cs typeface="Arimo Bold"/>
                <a:sym typeface="Arimo Bold"/>
              </a:rPr>
              <a:t>0.77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521440" y="4487037"/>
            <a:ext cx="274320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#3  수서동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939260" y="4496562"/>
            <a:ext cx="68580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b="true">
                <a:solidFill>
                  <a:srgbClr val="FFD74A"/>
                </a:solidFill>
                <a:latin typeface="Arimo Bold"/>
                <a:ea typeface="Arimo Bold"/>
                <a:cs typeface="Arimo Bold"/>
                <a:sym typeface="Arimo Bold"/>
              </a:rPr>
              <a:t>0.75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521440" y="4980813"/>
            <a:ext cx="274320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#4  세곡동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939260" y="4990338"/>
            <a:ext cx="68580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b="true">
                <a:solidFill>
                  <a:srgbClr val="FFD74A"/>
                </a:solidFill>
                <a:latin typeface="Arimo Bold"/>
                <a:ea typeface="Arimo Bold"/>
                <a:cs typeface="Arimo Bold"/>
                <a:sym typeface="Arimo Bold"/>
              </a:rPr>
              <a:t>0.75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521440" y="5474589"/>
            <a:ext cx="274320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#5  개포1동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939260" y="5484114"/>
            <a:ext cx="68580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b="true">
                <a:solidFill>
                  <a:srgbClr val="FFD74A"/>
                </a:solidFill>
                <a:latin typeface="Arimo Bold"/>
                <a:ea typeface="Arimo Bold"/>
                <a:cs typeface="Arimo Bold"/>
                <a:sym typeface="Arimo Bold"/>
              </a:rPr>
              <a:t>0.68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521440" y="6164580"/>
            <a:ext cx="61722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 b="true">
                <a:solidFill>
                  <a:srgbClr val="4FC3F7"/>
                </a:solidFill>
                <a:latin typeface="Arimo Bold"/>
                <a:ea typeface="Arimo Bold"/>
                <a:cs typeface="Arimo Bold"/>
                <a:sym typeface="Arimo Bold"/>
              </a:rPr>
              <a:t>⏱ 배차 단축 추천 정류장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521440" y="6859905"/>
            <a:ext cx="411480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#1  강남역 1번출구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047720" y="6859905"/>
            <a:ext cx="164592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75"/>
              </a:lnSpc>
            </a:pPr>
            <a:r>
              <a:rPr lang="en-US" sz="1650" b="true">
                <a:solidFill>
                  <a:srgbClr val="FFD74A"/>
                </a:solidFill>
                <a:latin typeface="Arimo Bold"/>
                <a:ea typeface="Arimo Bold"/>
                <a:cs typeface="Arimo Bold"/>
                <a:sym typeface="Arimo Bold"/>
              </a:rPr>
              <a:t>72명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521440" y="7353681"/>
            <a:ext cx="411480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#2  강남역 11번출구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047720" y="7353681"/>
            <a:ext cx="164592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75"/>
              </a:lnSpc>
            </a:pPr>
            <a:r>
              <a:rPr lang="en-US" sz="1650" b="true">
                <a:solidFill>
                  <a:srgbClr val="FFD74A"/>
                </a:solidFill>
                <a:latin typeface="Arimo Bold"/>
                <a:ea typeface="Arimo Bold"/>
                <a:cs typeface="Arimo Bold"/>
                <a:sym typeface="Arimo Bold"/>
              </a:rPr>
              <a:t>71명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521440" y="7847457"/>
            <a:ext cx="411480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F5F7FA"/>
                </a:solidFill>
                <a:latin typeface="Arimo"/>
                <a:ea typeface="Arimo"/>
                <a:cs typeface="Arimo"/>
                <a:sym typeface="Arimo"/>
              </a:rPr>
              <a:t>#3  신분당선 강남역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047720" y="7847457"/>
            <a:ext cx="164592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75"/>
              </a:lnSpc>
            </a:pPr>
            <a:r>
              <a:rPr lang="en-US" sz="1650" b="true">
                <a:solidFill>
                  <a:srgbClr val="FFD74A"/>
                </a:solidFill>
                <a:latin typeface="Arimo Bold"/>
                <a:ea typeface="Arimo Bold"/>
                <a:cs typeface="Arimo Bold"/>
                <a:sym typeface="Arimo Bold"/>
              </a:rPr>
              <a:t>69명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22960" y="9456420"/>
            <a:ext cx="109728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데이터: 행정안전부 행정동 GeoJSON · OpenStreetMap (정류장 564개)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22960" y="9730740"/>
            <a:ext cx="109728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🌙 달빛버스  |  Moonlight Bus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14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472068" y="354654"/>
            <a:ext cx="1647206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1"/>
              </a:lnSpc>
            </a:pPr>
            <a:r>
              <a:rPr lang="en-US" sz="1501">
                <a:solidFill>
                  <a:srgbClr val="B8C0CC"/>
                </a:solidFill>
                <a:latin typeface="Arimo"/>
                <a:ea typeface="Arimo"/>
                <a:cs typeface="Arimo"/>
                <a:sym typeface="Arimo"/>
              </a:rPr>
              <a:t>03 / 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335604"/>
            <a:ext cx="10981382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501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아키텍처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3608" y="754971"/>
            <a:ext cx="549069" cy="82363"/>
            <a:chOff x="0" y="0"/>
            <a:chExt cx="732092" cy="1098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2155" cy="109855"/>
            </a:xfrm>
            <a:custGeom>
              <a:avLst/>
              <a:gdLst/>
              <a:ahLst/>
              <a:cxnLst/>
              <a:rect r="r" b="b" t="t" l="l"/>
              <a:pathLst>
                <a:path h="109855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FFD74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23608" y="751322"/>
            <a:ext cx="16472068" cy="117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4"/>
              </a:lnSpc>
            </a:pPr>
            <a:r>
              <a:rPr lang="en-US" sz="4203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달빛버스 아키텍처 — 5-Layer 파이프라인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3608" y="1748333"/>
            <a:ext cx="16472068" cy="65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4FC3F7"/>
                </a:solidFill>
                <a:latin typeface="Calibri (MS)"/>
                <a:ea typeface="Calibri (MS)"/>
                <a:cs typeface="Calibri (MS)"/>
                <a:sym typeface="Calibri (MS)"/>
              </a:rPr>
              <a:t>예측 · 안전 · 의사결정을 한 시스템에 통합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23608" y="2745343"/>
            <a:ext cx="16609333" cy="1166774"/>
            <a:chOff x="0" y="0"/>
            <a:chExt cx="22145777" cy="15556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45879" cy="1555750"/>
            </a:xfrm>
            <a:custGeom>
              <a:avLst/>
              <a:gdLst/>
              <a:ahLst/>
              <a:cxnLst/>
              <a:rect r="r" b="b" t="t" l="l"/>
              <a:pathLst>
                <a:path h="1555750" w="22145879">
                  <a:moveTo>
                    <a:pt x="0" y="259334"/>
                  </a:moveTo>
                  <a:cubicBezTo>
                    <a:pt x="0" y="116078"/>
                    <a:pt x="116078" y="0"/>
                    <a:pt x="259334" y="0"/>
                  </a:cubicBezTo>
                  <a:lnTo>
                    <a:pt x="21886545" y="0"/>
                  </a:lnTo>
                  <a:cubicBezTo>
                    <a:pt x="22029801" y="0"/>
                    <a:pt x="22145879" y="116078"/>
                    <a:pt x="22145879" y="259334"/>
                  </a:cubicBezTo>
                  <a:lnTo>
                    <a:pt x="22145879" y="1296416"/>
                  </a:lnTo>
                  <a:cubicBezTo>
                    <a:pt x="22145879" y="1439672"/>
                    <a:pt x="22029801" y="1555750"/>
                    <a:pt x="21886545" y="1555750"/>
                  </a:cubicBezTo>
                  <a:lnTo>
                    <a:pt x="259334" y="1555750"/>
                  </a:lnTo>
                  <a:cubicBezTo>
                    <a:pt x="116078" y="1555750"/>
                    <a:pt x="0" y="1439545"/>
                    <a:pt x="0" y="1296416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3608" y="2745343"/>
            <a:ext cx="164725" cy="1166774"/>
            <a:chOff x="0" y="0"/>
            <a:chExt cx="219634" cy="15556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583" cy="1555750"/>
            </a:xfrm>
            <a:custGeom>
              <a:avLst/>
              <a:gdLst/>
              <a:ahLst/>
              <a:cxnLst/>
              <a:rect r="r" b="b" t="t" l="l"/>
              <a:pathLst>
                <a:path h="1555750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4CC97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6774" y="2745343"/>
            <a:ext cx="960872" cy="1166774"/>
            <a:chOff x="0" y="0"/>
            <a:chExt cx="1281163" cy="15556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1161" cy="1555695"/>
            </a:xfrm>
            <a:custGeom>
              <a:avLst/>
              <a:gdLst/>
              <a:ahLst/>
              <a:cxnLst/>
              <a:rect r="r" b="b" t="t" l="l"/>
              <a:pathLst>
                <a:path h="1555695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5797" t="0" r="-10579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281163" cy="1631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7"/>
                </a:lnSpc>
              </a:pPr>
              <a:r>
                <a:rPr lang="en-US" sz="2251" b="true">
                  <a:solidFill>
                    <a:srgbClr val="4CC97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33539" y="2745343"/>
            <a:ext cx="4255284" cy="1166774"/>
            <a:chOff x="0" y="0"/>
            <a:chExt cx="5673712" cy="15556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73713" cy="1555695"/>
            </a:xfrm>
            <a:custGeom>
              <a:avLst/>
              <a:gdLst/>
              <a:ahLst/>
              <a:cxnLst/>
              <a:rect r="r" b="b" t="t" l="l"/>
              <a:pathLst>
                <a:path h="1555695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62" r="0" b="-2106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04775"/>
              <a:ext cx="5673712" cy="16604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101" b="true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데이터 수집 레이어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57461" y="2745343"/>
            <a:ext cx="8236039" cy="1166774"/>
            <a:chOff x="0" y="0"/>
            <a:chExt cx="10981385" cy="15556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81379" cy="1555695"/>
            </a:xfrm>
            <a:custGeom>
              <a:avLst/>
              <a:gdLst/>
              <a:ahLst/>
              <a:cxnLst/>
              <a:rect r="r" b="b" t="t" l="l"/>
              <a:pathLst>
                <a:path h="1555695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41" r="0" b="-8754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0981385" cy="1631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6"/>
                </a:lnSpc>
              </a:pPr>
              <a:r>
                <a:rPr lang="en-US" sz="1651">
                  <a:solidFill>
                    <a:srgbClr val="B8C0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교통카드 · GTFS · 유동인구 · 범죄 · CCTV · 가로등 · 복지시설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030764" y="3047333"/>
            <a:ext cx="2264912" cy="576520"/>
            <a:chOff x="0" y="0"/>
            <a:chExt cx="3019882" cy="76869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19933" cy="768731"/>
            </a:xfrm>
            <a:custGeom>
              <a:avLst/>
              <a:gdLst/>
              <a:ahLst/>
              <a:cxnLst/>
              <a:rect r="r" b="b" t="t" l="l"/>
              <a:pathLst>
                <a:path h="768731" w="3019933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2891790" y="0"/>
                  </a:lnTo>
                  <a:cubicBezTo>
                    <a:pt x="2962529" y="0"/>
                    <a:pt x="3019933" y="57404"/>
                    <a:pt x="3019933" y="128143"/>
                  </a:cubicBezTo>
                  <a:lnTo>
                    <a:pt x="3019933" y="640588"/>
                  </a:lnTo>
                  <a:cubicBezTo>
                    <a:pt x="3019933" y="711327"/>
                    <a:pt x="2962529" y="768731"/>
                    <a:pt x="2891790" y="768731"/>
                  </a:cubicBezTo>
                  <a:lnTo>
                    <a:pt x="128143" y="768731"/>
                  </a:lnTo>
                  <a:cubicBezTo>
                    <a:pt x="57404" y="768731"/>
                    <a:pt x="0" y="711327"/>
                    <a:pt x="0" y="640588"/>
                  </a:cubicBezTo>
                  <a:close/>
                </a:path>
              </a:pathLst>
            </a:custGeom>
            <a:solidFill>
              <a:srgbClr val="4CC97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030764" y="3047333"/>
            <a:ext cx="2264912" cy="576520"/>
            <a:chOff x="0" y="0"/>
            <a:chExt cx="3019882" cy="7686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19879" cy="768697"/>
            </a:xfrm>
            <a:custGeom>
              <a:avLst/>
              <a:gdLst/>
              <a:ahLst/>
              <a:cxnLst/>
              <a:rect r="r" b="b" t="t" l="l"/>
              <a:pathLst>
                <a:path h="768697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3019882" cy="844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501" b="true">
                  <a:solidFill>
                    <a:srgbClr val="0B14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다소스 융합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3608" y="4049382"/>
            <a:ext cx="16609333" cy="1166774"/>
            <a:chOff x="0" y="0"/>
            <a:chExt cx="22145777" cy="155569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145879" cy="1555750"/>
            </a:xfrm>
            <a:custGeom>
              <a:avLst/>
              <a:gdLst/>
              <a:ahLst/>
              <a:cxnLst/>
              <a:rect r="r" b="b" t="t" l="l"/>
              <a:pathLst>
                <a:path h="1555750" w="22145879">
                  <a:moveTo>
                    <a:pt x="0" y="259334"/>
                  </a:moveTo>
                  <a:cubicBezTo>
                    <a:pt x="0" y="116078"/>
                    <a:pt x="116078" y="0"/>
                    <a:pt x="259334" y="0"/>
                  </a:cubicBezTo>
                  <a:lnTo>
                    <a:pt x="21886545" y="0"/>
                  </a:lnTo>
                  <a:cubicBezTo>
                    <a:pt x="22029801" y="0"/>
                    <a:pt x="22145879" y="116078"/>
                    <a:pt x="22145879" y="259334"/>
                  </a:cubicBezTo>
                  <a:lnTo>
                    <a:pt x="22145879" y="1296416"/>
                  </a:lnTo>
                  <a:cubicBezTo>
                    <a:pt x="22145879" y="1439672"/>
                    <a:pt x="22029801" y="1555750"/>
                    <a:pt x="21886545" y="1555750"/>
                  </a:cubicBezTo>
                  <a:lnTo>
                    <a:pt x="259334" y="1555750"/>
                  </a:lnTo>
                  <a:cubicBezTo>
                    <a:pt x="116078" y="1555750"/>
                    <a:pt x="0" y="1439545"/>
                    <a:pt x="0" y="1296416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3608" y="4049382"/>
            <a:ext cx="164725" cy="1166774"/>
            <a:chOff x="0" y="0"/>
            <a:chExt cx="219634" cy="15556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583" cy="1555750"/>
            </a:xfrm>
            <a:custGeom>
              <a:avLst/>
              <a:gdLst/>
              <a:ahLst/>
              <a:cxnLst/>
              <a:rect r="r" b="b" t="t" l="l"/>
              <a:pathLst>
                <a:path h="1555750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4FC3F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66774" y="4049382"/>
            <a:ext cx="960872" cy="1166774"/>
            <a:chOff x="0" y="0"/>
            <a:chExt cx="1281163" cy="155569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1161" cy="1555695"/>
            </a:xfrm>
            <a:custGeom>
              <a:avLst/>
              <a:gdLst/>
              <a:ahLst/>
              <a:cxnLst/>
              <a:rect r="r" b="b" t="t" l="l"/>
              <a:pathLst>
                <a:path h="1555695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5797" t="0" r="-10579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1281163" cy="1631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7"/>
                </a:lnSpc>
              </a:pPr>
              <a:r>
                <a:rPr lang="en-US" sz="2251" b="true">
                  <a:solidFill>
                    <a:srgbClr val="4FC3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333539" y="4049382"/>
            <a:ext cx="4255284" cy="1166774"/>
            <a:chOff x="0" y="0"/>
            <a:chExt cx="5673712" cy="155569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673713" cy="1555695"/>
            </a:xfrm>
            <a:custGeom>
              <a:avLst/>
              <a:gdLst/>
              <a:ahLst/>
              <a:cxnLst/>
              <a:rect r="r" b="b" t="t" l="l"/>
              <a:pathLst>
                <a:path h="1555695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62" r="0" b="-2106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5673712" cy="16223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101" b="true">
                  <a:solidFill>
                    <a:srgbClr val="F5F7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AI 예측 모델 레이어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657461" y="4049382"/>
            <a:ext cx="8236039" cy="1166774"/>
            <a:chOff x="0" y="0"/>
            <a:chExt cx="10981385" cy="15556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81379" cy="1555695"/>
            </a:xfrm>
            <a:custGeom>
              <a:avLst/>
              <a:gdLst/>
              <a:ahLst/>
              <a:cxnLst/>
              <a:rect r="r" b="b" t="t" l="l"/>
              <a:pathLst>
                <a:path h="1555695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41" r="0" b="-8754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10981385" cy="1631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6"/>
                </a:lnSpc>
              </a:pPr>
              <a:r>
                <a:rPr lang="en-US" sz="1651">
                  <a:solidFill>
                    <a:srgbClr val="B8C0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정류장 수요 (LightGBM)   ② 지역 유형 분류 (Clustering)   ③ 안전 위험 (Spatial)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030764" y="4351372"/>
            <a:ext cx="2264912" cy="576520"/>
            <a:chOff x="0" y="0"/>
            <a:chExt cx="3019882" cy="76869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19933" cy="768731"/>
            </a:xfrm>
            <a:custGeom>
              <a:avLst/>
              <a:gdLst/>
              <a:ahLst/>
              <a:cxnLst/>
              <a:rect r="r" b="b" t="t" l="l"/>
              <a:pathLst>
                <a:path h="768731" w="3019933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2891790" y="0"/>
                  </a:lnTo>
                  <a:cubicBezTo>
                    <a:pt x="2962529" y="0"/>
                    <a:pt x="3019933" y="57404"/>
                    <a:pt x="3019933" y="128143"/>
                  </a:cubicBezTo>
                  <a:lnTo>
                    <a:pt x="3019933" y="640588"/>
                  </a:lnTo>
                  <a:cubicBezTo>
                    <a:pt x="3019933" y="711327"/>
                    <a:pt x="2962529" y="768731"/>
                    <a:pt x="2891790" y="768731"/>
                  </a:cubicBezTo>
                  <a:lnTo>
                    <a:pt x="128143" y="768731"/>
                  </a:lnTo>
                  <a:cubicBezTo>
                    <a:pt x="57404" y="768731"/>
                    <a:pt x="0" y="711327"/>
                    <a:pt x="0" y="640588"/>
                  </a:cubicBezTo>
                  <a:close/>
                </a:path>
              </a:pathLst>
            </a:custGeom>
            <a:solidFill>
              <a:srgbClr val="4FC3F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030764" y="4351372"/>
            <a:ext cx="2264912" cy="576520"/>
            <a:chOff x="0" y="0"/>
            <a:chExt cx="3019882" cy="76869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19879" cy="768697"/>
            </a:xfrm>
            <a:custGeom>
              <a:avLst/>
              <a:gdLst/>
              <a:ahLst/>
              <a:cxnLst/>
              <a:rect r="r" b="b" t="t" l="l"/>
              <a:pathLst>
                <a:path h="768697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3019882" cy="825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501" b="true">
                  <a:solidFill>
                    <a:srgbClr val="0B1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3종 AI 모델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23608" y="5353421"/>
            <a:ext cx="16609333" cy="1166774"/>
            <a:chOff x="0" y="0"/>
            <a:chExt cx="22145777" cy="155569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145879" cy="1555750"/>
            </a:xfrm>
            <a:custGeom>
              <a:avLst/>
              <a:gdLst/>
              <a:ahLst/>
              <a:cxnLst/>
              <a:rect r="r" b="b" t="t" l="l"/>
              <a:pathLst>
                <a:path h="1555750" w="22145879">
                  <a:moveTo>
                    <a:pt x="0" y="259334"/>
                  </a:moveTo>
                  <a:cubicBezTo>
                    <a:pt x="0" y="116078"/>
                    <a:pt x="116078" y="0"/>
                    <a:pt x="259334" y="0"/>
                  </a:cubicBezTo>
                  <a:lnTo>
                    <a:pt x="21886545" y="0"/>
                  </a:lnTo>
                  <a:cubicBezTo>
                    <a:pt x="22029801" y="0"/>
                    <a:pt x="22145879" y="116078"/>
                    <a:pt x="22145879" y="259334"/>
                  </a:cubicBezTo>
                  <a:lnTo>
                    <a:pt x="22145879" y="1296416"/>
                  </a:lnTo>
                  <a:cubicBezTo>
                    <a:pt x="22145879" y="1439672"/>
                    <a:pt x="22029801" y="1555750"/>
                    <a:pt x="21886545" y="1555750"/>
                  </a:cubicBezTo>
                  <a:lnTo>
                    <a:pt x="259334" y="1555750"/>
                  </a:lnTo>
                  <a:cubicBezTo>
                    <a:pt x="116078" y="1555750"/>
                    <a:pt x="0" y="1439545"/>
                    <a:pt x="0" y="1296416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3608" y="5353421"/>
            <a:ext cx="164725" cy="1166774"/>
            <a:chOff x="0" y="0"/>
            <a:chExt cx="219634" cy="155569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583" cy="1555750"/>
            </a:xfrm>
            <a:custGeom>
              <a:avLst/>
              <a:gdLst/>
              <a:ahLst/>
              <a:cxnLst/>
              <a:rect r="r" b="b" t="t" l="l"/>
              <a:pathLst>
                <a:path h="1555750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E54B4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66774" y="5353421"/>
            <a:ext cx="960872" cy="1166774"/>
            <a:chOff x="0" y="0"/>
            <a:chExt cx="1281163" cy="155569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81161" cy="1555695"/>
            </a:xfrm>
            <a:custGeom>
              <a:avLst/>
              <a:gdLst/>
              <a:ahLst/>
              <a:cxnLst/>
              <a:rect r="r" b="b" t="t" l="l"/>
              <a:pathLst>
                <a:path h="1555695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5797" t="0" r="-10579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1281163" cy="1631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7"/>
                </a:lnSpc>
              </a:pPr>
              <a:r>
                <a:rPr lang="en-US" sz="2251" b="true">
                  <a:solidFill>
                    <a:srgbClr val="E54B4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333539" y="5353421"/>
            <a:ext cx="4255284" cy="1166774"/>
            <a:chOff x="0" y="0"/>
            <a:chExt cx="5673712" cy="155569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673713" cy="1555695"/>
            </a:xfrm>
            <a:custGeom>
              <a:avLst/>
              <a:gdLst/>
              <a:ahLst/>
              <a:cxnLst/>
              <a:rect r="r" b="b" t="t" l="l"/>
              <a:pathLst>
                <a:path h="1555695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62" r="0" b="-2106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04775"/>
              <a:ext cx="5673712" cy="16604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101" b="true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위험지수 산출 레이어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657461" y="5353421"/>
            <a:ext cx="8236039" cy="1166774"/>
            <a:chOff x="0" y="0"/>
            <a:chExt cx="10981385" cy="155569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81379" cy="1555695"/>
            </a:xfrm>
            <a:custGeom>
              <a:avLst/>
              <a:gdLst/>
              <a:ahLst/>
              <a:cxnLst/>
              <a:rect r="r" b="b" t="t" l="l"/>
              <a:pathLst>
                <a:path h="1555695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41" r="0" b="-8754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10981385" cy="16223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6"/>
                </a:lnSpc>
              </a:pPr>
              <a:r>
                <a:rPr lang="en-US" sz="1651">
                  <a:solidFill>
                    <a:srgbClr val="B8C0CC"/>
                  </a:solidFill>
                  <a:latin typeface="Arimo"/>
                  <a:ea typeface="Arimo"/>
                  <a:cs typeface="Arimo"/>
                  <a:sym typeface="Arimo"/>
                </a:rPr>
                <a:t>Risk = 0.3·수요 + 0.3·공급결핍 + 0.4·안전위험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030764" y="5655412"/>
            <a:ext cx="2264912" cy="576520"/>
            <a:chOff x="0" y="0"/>
            <a:chExt cx="3019882" cy="76869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19933" cy="768731"/>
            </a:xfrm>
            <a:custGeom>
              <a:avLst/>
              <a:gdLst/>
              <a:ahLst/>
              <a:cxnLst/>
              <a:rect r="r" b="b" t="t" l="l"/>
              <a:pathLst>
                <a:path h="768731" w="3019933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2891790" y="0"/>
                  </a:lnTo>
                  <a:cubicBezTo>
                    <a:pt x="2962529" y="0"/>
                    <a:pt x="3019933" y="57404"/>
                    <a:pt x="3019933" y="128143"/>
                  </a:cubicBezTo>
                  <a:lnTo>
                    <a:pt x="3019933" y="640588"/>
                  </a:lnTo>
                  <a:cubicBezTo>
                    <a:pt x="3019933" y="711327"/>
                    <a:pt x="2962529" y="768731"/>
                    <a:pt x="2891790" y="768731"/>
                  </a:cubicBezTo>
                  <a:lnTo>
                    <a:pt x="128143" y="768731"/>
                  </a:lnTo>
                  <a:cubicBezTo>
                    <a:pt x="57404" y="768731"/>
                    <a:pt x="0" y="711327"/>
                    <a:pt x="0" y="640588"/>
                  </a:cubicBezTo>
                  <a:close/>
                </a:path>
              </a:pathLst>
            </a:custGeom>
            <a:solidFill>
              <a:srgbClr val="E54B4B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5030764" y="5655412"/>
            <a:ext cx="2264912" cy="576520"/>
            <a:chOff x="0" y="0"/>
            <a:chExt cx="3019882" cy="76869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019879" cy="768697"/>
            </a:xfrm>
            <a:custGeom>
              <a:avLst/>
              <a:gdLst/>
              <a:ahLst/>
              <a:cxnLst/>
              <a:rect r="r" b="b" t="t" l="l"/>
              <a:pathLst>
                <a:path h="768697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76200"/>
              <a:ext cx="3019882" cy="844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501" b="true">
                  <a:solidFill>
                    <a:srgbClr val="0B14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안전 가중 0.4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3608" y="6657461"/>
            <a:ext cx="16609333" cy="1166774"/>
            <a:chOff x="0" y="0"/>
            <a:chExt cx="22145777" cy="155569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145879" cy="1555750"/>
            </a:xfrm>
            <a:custGeom>
              <a:avLst/>
              <a:gdLst/>
              <a:ahLst/>
              <a:cxnLst/>
              <a:rect r="r" b="b" t="t" l="l"/>
              <a:pathLst>
                <a:path h="1555750" w="22145879">
                  <a:moveTo>
                    <a:pt x="0" y="259334"/>
                  </a:moveTo>
                  <a:cubicBezTo>
                    <a:pt x="0" y="116078"/>
                    <a:pt x="116078" y="0"/>
                    <a:pt x="259334" y="0"/>
                  </a:cubicBezTo>
                  <a:lnTo>
                    <a:pt x="21886545" y="0"/>
                  </a:lnTo>
                  <a:cubicBezTo>
                    <a:pt x="22029801" y="0"/>
                    <a:pt x="22145879" y="116078"/>
                    <a:pt x="22145879" y="259334"/>
                  </a:cubicBezTo>
                  <a:lnTo>
                    <a:pt x="22145879" y="1296416"/>
                  </a:lnTo>
                  <a:cubicBezTo>
                    <a:pt x="22145879" y="1439672"/>
                    <a:pt x="22029801" y="1555750"/>
                    <a:pt x="21886545" y="1555750"/>
                  </a:cubicBezTo>
                  <a:lnTo>
                    <a:pt x="259334" y="1555750"/>
                  </a:lnTo>
                  <a:cubicBezTo>
                    <a:pt x="116078" y="1555750"/>
                    <a:pt x="0" y="1439545"/>
                    <a:pt x="0" y="1296416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23608" y="6657461"/>
            <a:ext cx="164725" cy="1166774"/>
            <a:chOff x="0" y="0"/>
            <a:chExt cx="219634" cy="155569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9583" cy="1555750"/>
            </a:xfrm>
            <a:custGeom>
              <a:avLst/>
              <a:gdLst/>
              <a:ahLst/>
              <a:cxnLst/>
              <a:rect r="r" b="b" t="t" l="l"/>
              <a:pathLst>
                <a:path h="1555750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FFD74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66774" y="6657461"/>
            <a:ext cx="960872" cy="1166774"/>
            <a:chOff x="0" y="0"/>
            <a:chExt cx="1281163" cy="155569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81161" cy="1555695"/>
            </a:xfrm>
            <a:custGeom>
              <a:avLst/>
              <a:gdLst/>
              <a:ahLst/>
              <a:cxnLst/>
              <a:rect r="r" b="b" t="t" l="l"/>
              <a:pathLst>
                <a:path h="1555695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5797" t="0" r="-105797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76200"/>
              <a:ext cx="1281163" cy="1631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7"/>
                </a:lnSpc>
              </a:pPr>
              <a:r>
                <a:rPr lang="en-US" sz="2251" b="true">
                  <a:solidFill>
                    <a:srgbClr val="FFD7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L4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2333539" y="6657461"/>
            <a:ext cx="4255284" cy="1166774"/>
            <a:chOff x="0" y="0"/>
            <a:chExt cx="5673712" cy="155569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673713" cy="1555695"/>
            </a:xfrm>
            <a:custGeom>
              <a:avLst/>
              <a:gdLst/>
              <a:ahLst/>
              <a:cxnLst/>
              <a:rect r="r" b="b" t="t" l="l"/>
              <a:pathLst>
                <a:path h="1555695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62" r="0" b="-2106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04775"/>
              <a:ext cx="5673712" cy="16604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101" b="true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이중 의사결정 레이어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657461" y="6657461"/>
            <a:ext cx="8236039" cy="1166774"/>
            <a:chOff x="0" y="0"/>
            <a:chExt cx="10981385" cy="155569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81379" cy="1555695"/>
            </a:xfrm>
            <a:custGeom>
              <a:avLst/>
              <a:gdLst/>
              <a:ahLst/>
              <a:cxnLst/>
              <a:rect r="r" b="b" t="t" l="l"/>
              <a:pathLst>
                <a:path h="1555695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41" r="0" b="-8754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76200"/>
              <a:ext cx="10981385" cy="1631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6"/>
                </a:lnSpc>
              </a:pPr>
              <a:r>
                <a:rPr lang="en-US" sz="1651">
                  <a:solidFill>
                    <a:srgbClr val="B8C0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배차 단축 추천 (기존 노선)   +   DRT 신규 투입 (사각지대)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5030764" y="6959451"/>
            <a:ext cx="2264912" cy="576520"/>
            <a:chOff x="0" y="0"/>
            <a:chExt cx="3019882" cy="76869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019933" cy="768731"/>
            </a:xfrm>
            <a:custGeom>
              <a:avLst/>
              <a:gdLst/>
              <a:ahLst/>
              <a:cxnLst/>
              <a:rect r="r" b="b" t="t" l="l"/>
              <a:pathLst>
                <a:path h="768731" w="3019933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2891790" y="0"/>
                  </a:lnTo>
                  <a:cubicBezTo>
                    <a:pt x="2962529" y="0"/>
                    <a:pt x="3019933" y="57404"/>
                    <a:pt x="3019933" y="128143"/>
                  </a:cubicBezTo>
                  <a:lnTo>
                    <a:pt x="3019933" y="640588"/>
                  </a:lnTo>
                  <a:cubicBezTo>
                    <a:pt x="3019933" y="711327"/>
                    <a:pt x="2962529" y="768731"/>
                    <a:pt x="2891790" y="768731"/>
                  </a:cubicBezTo>
                  <a:lnTo>
                    <a:pt x="128143" y="768731"/>
                  </a:lnTo>
                  <a:cubicBezTo>
                    <a:pt x="57404" y="768731"/>
                    <a:pt x="0" y="711327"/>
                    <a:pt x="0" y="640588"/>
                  </a:cubicBezTo>
                  <a:close/>
                </a:path>
              </a:pathLst>
            </a:custGeom>
            <a:solidFill>
              <a:srgbClr val="FFD74A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5030764" y="6959451"/>
            <a:ext cx="2264912" cy="576520"/>
            <a:chOff x="0" y="0"/>
            <a:chExt cx="3019882" cy="76869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019879" cy="768697"/>
            </a:xfrm>
            <a:custGeom>
              <a:avLst/>
              <a:gdLst/>
              <a:ahLst/>
              <a:cxnLst/>
              <a:rect r="r" b="b" t="t" l="l"/>
              <a:pathLst>
                <a:path h="768697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76200"/>
              <a:ext cx="3019882" cy="844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501" b="true">
                  <a:solidFill>
                    <a:srgbClr val="0B14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한 시스템·두 처방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23608" y="7961500"/>
            <a:ext cx="16609333" cy="1166774"/>
            <a:chOff x="0" y="0"/>
            <a:chExt cx="22145777" cy="155569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145879" cy="1555750"/>
            </a:xfrm>
            <a:custGeom>
              <a:avLst/>
              <a:gdLst/>
              <a:ahLst/>
              <a:cxnLst/>
              <a:rect r="r" b="b" t="t" l="l"/>
              <a:pathLst>
                <a:path h="1555750" w="22145879">
                  <a:moveTo>
                    <a:pt x="0" y="259334"/>
                  </a:moveTo>
                  <a:cubicBezTo>
                    <a:pt x="0" y="116078"/>
                    <a:pt x="116078" y="0"/>
                    <a:pt x="259334" y="0"/>
                  </a:cubicBezTo>
                  <a:lnTo>
                    <a:pt x="21886545" y="0"/>
                  </a:lnTo>
                  <a:cubicBezTo>
                    <a:pt x="22029801" y="0"/>
                    <a:pt x="22145879" y="116078"/>
                    <a:pt x="22145879" y="259334"/>
                  </a:cubicBezTo>
                  <a:lnTo>
                    <a:pt x="22145879" y="1296416"/>
                  </a:lnTo>
                  <a:cubicBezTo>
                    <a:pt x="22145879" y="1439672"/>
                    <a:pt x="22029801" y="1555750"/>
                    <a:pt x="21886545" y="1555750"/>
                  </a:cubicBezTo>
                  <a:lnTo>
                    <a:pt x="259334" y="1555750"/>
                  </a:lnTo>
                  <a:cubicBezTo>
                    <a:pt x="116078" y="1555750"/>
                    <a:pt x="0" y="1439545"/>
                    <a:pt x="0" y="1296416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823608" y="7961500"/>
            <a:ext cx="164725" cy="1166774"/>
            <a:chOff x="0" y="0"/>
            <a:chExt cx="219634" cy="155569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9583" cy="1555750"/>
            </a:xfrm>
            <a:custGeom>
              <a:avLst/>
              <a:gdLst/>
              <a:ahLst/>
              <a:cxnLst/>
              <a:rect r="r" b="b" t="t" l="l"/>
              <a:pathLst>
                <a:path h="1555750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B084EB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166774" y="7961500"/>
            <a:ext cx="960872" cy="1166774"/>
            <a:chOff x="0" y="0"/>
            <a:chExt cx="1281163" cy="155569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81161" cy="1555695"/>
            </a:xfrm>
            <a:custGeom>
              <a:avLst/>
              <a:gdLst/>
              <a:ahLst/>
              <a:cxnLst/>
              <a:rect r="r" b="b" t="t" l="l"/>
              <a:pathLst>
                <a:path h="1555695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5797" t="0" r="-105797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76200"/>
              <a:ext cx="1281163" cy="1631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7"/>
                </a:lnSpc>
              </a:pPr>
              <a:r>
                <a:rPr lang="en-US" sz="2251" b="true">
                  <a:solidFill>
                    <a:srgbClr val="B084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L5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2333539" y="7961500"/>
            <a:ext cx="4255284" cy="1166774"/>
            <a:chOff x="0" y="0"/>
            <a:chExt cx="5673712" cy="155569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673713" cy="1555695"/>
            </a:xfrm>
            <a:custGeom>
              <a:avLst/>
              <a:gdLst/>
              <a:ahLst/>
              <a:cxnLst/>
              <a:rect r="r" b="b" t="t" l="l"/>
              <a:pathLst>
                <a:path h="1555695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62" r="0" b="-2106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04775"/>
              <a:ext cx="5673712" cy="16604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101" b="true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운영 레이어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657461" y="7961500"/>
            <a:ext cx="8236039" cy="1166774"/>
            <a:chOff x="0" y="0"/>
            <a:chExt cx="10981385" cy="155569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981379" cy="1555695"/>
            </a:xfrm>
            <a:custGeom>
              <a:avLst/>
              <a:gdLst/>
              <a:ahLst/>
              <a:cxnLst/>
              <a:rect r="r" b="b" t="t" l="l"/>
              <a:pathLst>
                <a:path h="1555695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541" r="0" b="-8754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66675"/>
              <a:ext cx="10981385" cy="16223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6"/>
                </a:lnSpc>
              </a:pPr>
              <a:r>
                <a:rPr lang="en-US" sz="1651">
                  <a:solidFill>
                    <a:srgbClr val="B8C0CC"/>
                  </a:solidFill>
                  <a:latin typeface="Arimo"/>
                  <a:ea typeface="Arimo"/>
                  <a:cs typeface="Arimo"/>
                  <a:sym typeface="Arimo"/>
                </a:rPr>
                <a:t>DRT 호출 앱  ·  자율주행 셔틀  ·  관제 플랫폼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5030764" y="8263490"/>
            <a:ext cx="2264912" cy="576520"/>
            <a:chOff x="0" y="0"/>
            <a:chExt cx="3019882" cy="76869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019933" cy="768731"/>
            </a:xfrm>
            <a:custGeom>
              <a:avLst/>
              <a:gdLst/>
              <a:ahLst/>
              <a:cxnLst/>
              <a:rect r="r" b="b" t="t" l="l"/>
              <a:pathLst>
                <a:path h="768731" w="3019933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2891790" y="0"/>
                  </a:lnTo>
                  <a:cubicBezTo>
                    <a:pt x="2962529" y="0"/>
                    <a:pt x="3019933" y="57404"/>
                    <a:pt x="3019933" y="128143"/>
                  </a:cubicBezTo>
                  <a:lnTo>
                    <a:pt x="3019933" y="640588"/>
                  </a:lnTo>
                  <a:cubicBezTo>
                    <a:pt x="3019933" y="711327"/>
                    <a:pt x="2962529" y="768731"/>
                    <a:pt x="2891790" y="768731"/>
                  </a:cubicBezTo>
                  <a:lnTo>
                    <a:pt x="128143" y="768731"/>
                  </a:lnTo>
                  <a:cubicBezTo>
                    <a:pt x="57404" y="768731"/>
                    <a:pt x="0" y="711327"/>
                    <a:pt x="0" y="640588"/>
                  </a:cubicBezTo>
                  <a:close/>
                </a:path>
              </a:pathLst>
            </a:custGeom>
            <a:solidFill>
              <a:srgbClr val="B084EB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5030764" y="8263490"/>
            <a:ext cx="2264912" cy="576520"/>
            <a:chOff x="0" y="0"/>
            <a:chExt cx="3019882" cy="76869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019879" cy="768697"/>
            </a:xfrm>
            <a:custGeom>
              <a:avLst/>
              <a:gdLst/>
              <a:ahLst/>
              <a:cxnLst/>
              <a:rect r="r" b="b" t="t" l="l"/>
              <a:pathLst>
                <a:path h="768697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76200"/>
              <a:ext cx="3019882" cy="844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501" b="true">
                  <a:solidFill>
                    <a:srgbClr val="0B14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사용자·차량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823608" y="9307554"/>
            <a:ext cx="16609333" cy="64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1801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★  L2 · L3 · L4 — 기존 DRT엔 없는 우리만의 레이어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823608" y="9738408"/>
            <a:ext cx="10981382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501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🌙 달빛버스  |  Moonlight Bus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14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472068" y="354654"/>
            <a:ext cx="1647206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1"/>
              </a:lnSpc>
            </a:pPr>
            <a:r>
              <a:rPr lang="en-US" sz="1501">
                <a:solidFill>
                  <a:srgbClr val="B8C0CC"/>
                </a:solidFill>
                <a:latin typeface="Arimo"/>
                <a:ea typeface="Arimo"/>
                <a:cs typeface="Arimo"/>
                <a:sym typeface="Arimo"/>
              </a:rPr>
              <a:t>06 / 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608" y="335604"/>
            <a:ext cx="10981382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501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확장성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3608" y="754971"/>
            <a:ext cx="549069" cy="82363"/>
            <a:chOff x="0" y="0"/>
            <a:chExt cx="732092" cy="1098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2155" cy="109855"/>
            </a:xfrm>
            <a:custGeom>
              <a:avLst/>
              <a:gdLst/>
              <a:ahLst/>
              <a:cxnLst/>
              <a:rect r="r" b="b" t="t" l="l"/>
              <a:pathLst>
                <a:path h="109855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FFD74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23608" y="751322"/>
            <a:ext cx="16472068" cy="117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4"/>
              </a:lnSpc>
            </a:pPr>
            <a:r>
              <a:rPr lang="en-US" sz="4203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아키텍처의 확장성 — 자율주행 &amp; 타 도메인 이식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3608" y="1748333"/>
            <a:ext cx="16472068" cy="65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4FC3F7"/>
                </a:solidFill>
                <a:latin typeface="Calibri (MS)"/>
                <a:ea typeface="Calibri (MS)"/>
                <a:cs typeface="Calibri (MS)"/>
                <a:sym typeface="Calibri (MS)"/>
              </a:rPr>
              <a:t>모듈식 5-Layer는 미래 인프라·다른 복지 영역에 그대로 적용된다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23608" y="2813980"/>
            <a:ext cx="8236039" cy="6657461"/>
            <a:chOff x="0" y="0"/>
            <a:chExt cx="10981385" cy="88766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81309" cy="8876538"/>
            </a:xfrm>
            <a:custGeom>
              <a:avLst/>
              <a:gdLst/>
              <a:ahLst/>
              <a:cxnLst/>
              <a:rect r="r" b="b" t="t" l="l"/>
              <a:pathLst>
                <a:path h="8876538" w="10981309">
                  <a:moveTo>
                    <a:pt x="0" y="1479423"/>
                  </a:moveTo>
                  <a:cubicBezTo>
                    <a:pt x="0" y="662432"/>
                    <a:pt x="662432" y="0"/>
                    <a:pt x="1479423" y="0"/>
                  </a:cubicBezTo>
                  <a:lnTo>
                    <a:pt x="9501886" y="0"/>
                  </a:lnTo>
                  <a:cubicBezTo>
                    <a:pt x="10319004" y="0"/>
                    <a:pt x="10981309" y="662432"/>
                    <a:pt x="10981309" y="1479423"/>
                  </a:cubicBezTo>
                  <a:lnTo>
                    <a:pt x="10981309" y="7397115"/>
                  </a:lnTo>
                  <a:cubicBezTo>
                    <a:pt x="10981309" y="8214233"/>
                    <a:pt x="10318877" y="8876538"/>
                    <a:pt x="9501886" y="8876538"/>
                  </a:cubicBezTo>
                  <a:lnTo>
                    <a:pt x="1479423" y="8876538"/>
                  </a:lnTo>
                  <a:cubicBezTo>
                    <a:pt x="662432" y="8876665"/>
                    <a:pt x="0" y="8214233"/>
                    <a:pt x="0" y="7397115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66774" y="2915107"/>
            <a:ext cx="7549696" cy="7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🚗  L5 운영 레이어 → 자율주행 셔틀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6774" y="3816868"/>
            <a:ext cx="7549696" cy="64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1" b="true">
                <a:solidFill>
                  <a:srgbClr val="4FC3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왜 심야가 자율주행 첫 시장인가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4039" y="4493676"/>
            <a:ext cx="411804" cy="5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715843" y="4598451"/>
            <a:ext cx="7137892" cy="480431"/>
            <a:chOff x="0" y="0"/>
            <a:chExt cx="9517190" cy="6405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17195" cy="640580"/>
            </a:xfrm>
            <a:custGeom>
              <a:avLst/>
              <a:gdLst/>
              <a:ahLst/>
              <a:cxnLst/>
              <a:rect r="r" b="b" t="t" l="l"/>
              <a:pathLst>
                <a:path h="640580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492" r="0" b="-2394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9517190" cy="735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심야 운영비의 70% = 인건비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04039" y="5111382"/>
            <a:ext cx="411804" cy="5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15843" y="5216157"/>
            <a:ext cx="7137892" cy="480431"/>
            <a:chOff x="0" y="0"/>
            <a:chExt cx="9517190" cy="6405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17195" cy="640580"/>
            </a:xfrm>
            <a:custGeom>
              <a:avLst/>
              <a:gdLst/>
              <a:ahLst/>
              <a:cxnLst/>
              <a:rect r="r" b="b" t="t" l="l"/>
              <a:pathLst>
                <a:path h="640580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492" r="0" b="-23949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9517190" cy="735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기사 야간근무 기피 → 확대 한계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04039" y="5729078"/>
            <a:ext cx="411804" cy="5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715843" y="5833853"/>
            <a:ext cx="7137892" cy="480431"/>
            <a:chOff x="0" y="0"/>
            <a:chExt cx="9517190" cy="6405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17195" cy="640580"/>
            </a:xfrm>
            <a:custGeom>
              <a:avLst/>
              <a:gdLst/>
              <a:ahLst/>
              <a:cxnLst/>
              <a:rect r="r" b="b" t="t" l="l"/>
              <a:pathLst>
                <a:path h="640580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492" r="0" b="-23949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0"/>
              <a:ext cx="9517190" cy="735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교통량 적고 경로 단순 → 도입 난이도 ↓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02804" y="2813980"/>
            <a:ext cx="8236039" cy="6657461"/>
            <a:chOff x="0" y="0"/>
            <a:chExt cx="10981385" cy="887661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81309" cy="8876538"/>
            </a:xfrm>
            <a:custGeom>
              <a:avLst/>
              <a:gdLst/>
              <a:ahLst/>
              <a:cxnLst/>
              <a:rect r="r" b="b" t="t" l="l"/>
              <a:pathLst>
                <a:path h="8876538" w="10981309">
                  <a:moveTo>
                    <a:pt x="0" y="1479423"/>
                  </a:moveTo>
                  <a:cubicBezTo>
                    <a:pt x="0" y="662432"/>
                    <a:pt x="662432" y="0"/>
                    <a:pt x="1479423" y="0"/>
                  </a:cubicBezTo>
                  <a:lnTo>
                    <a:pt x="9501886" y="0"/>
                  </a:lnTo>
                  <a:cubicBezTo>
                    <a:pt x="10319004" y="0"/>
                    <a:pt x="10981309" y="662432"/>
                    <a:pt x="10981309" y="1479423"/>
                  </a:cubicBezTo>
                  <a:lnTo>
                    <a:pt x="10981309" y="7397115"/>
                  </a:lnTo>
                  <a:cubicBezTo>
                    <a:pt x="10981309" y="8214233"/>
                    <a:pt x="10318877" y="8876538"/>
                    <a:pt x="9501886" y="8876538"/>
                  </a:cubicBezTo>
                  <a:lnTo>
                    <a:pt x="1479423" y="8876538"/>
                  </a:lnTo>
                  <a:cubicBezTo>
                    <a:pt x="662432" y="8876665"/>
                    <a:pt x="0" y="8214233"/>
                    <a:pt x="0" y="7397115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745970" y="2915107"/>
            <a:ext cx="7549696" cy="79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 b="true">
                <a:solidFill>
                  <a:srgbClr val="4FC3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🔁  같은 아키텍처, 다른 영역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45970" y="3835918"/>
            <a:ext cx="7549696" cy="62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1">
                <a:solidFill>
                  <a:srgbClr val="B8C0CC"/>
                </a:solidFill>
                <a:latin typeface="Arimo"/>
                <a:ea typeface="Arimo"/>
                <a:cs typeface="Arimo"/>
                <a:sym typeface="Arimo"/>
              </a:rPr>
              <a:t>L1~L4는 그대로, 데이터만 교체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745970" y="4735716"/>
            <a:ext cx="7549696" cy="1304039"/>
            <a:chOff x="0" y="0"/>
            <a:chExt cx="10066261" cy="17387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66274" cy="1738757"/>
            </a:xfrm>
            <a:custGeom>
              <a:avLst/>
              <a:gdLst/>
              <a:ahLst/>
              <a:cxnLst/>
              <a:rect r="r" b="b" t="t" l="l"/>
              <a:pathLst>
                <a:path h="1738757" w="10066274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9776460" y="0"/>
                  </a:lnTo>
                  <a:cubicBezTo>
                    <a:pt x="9936480" y="0"/>
                    <a:pt x="10066274" y="129794"/>
                    <a:pt x="10066274" y="289814"/>
                  </a:cubicBezTo>
                  <a:lnTo>
                    <a:pt x="10066274" y="1448943"/>
                  </a:lnTo>
                  <a:cubicBezTo>
                    <a:pt x="10066274" y="1608963"/>
                    <a:pt x="9936480" y="1738757"/>
                    <a:pt x="9776460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1C2A4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951872" y="4872990"/>
            <a:ext cx="823608" cy="1029500"/>
            <a:chOff x="0" y="0"/>
            <a:chExt cx="1098144" cy="137266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8138" cy="1372672"/>
            </a:xfrm>
            <a:custGeom>
              <a:avLst/>
              <a:gdLst/>
              <a:ahLst/>
              <a:cxnLst/>
              <a:rect r="r" b="b" t="t" l="l"/>
              <a:pathLst>
                <a:path h="1372672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78" t="0" r="-11037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52400"/>
              <a:ext cx="1098144" cy="1525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3"/>
                </a:lnSpc>
              </a:pPr>
              <a:r>
                <a:rPr lang="en-US" sz="3002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🏥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912745" y="4805191"/>
            <a:ext cx="6177029" cy="64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1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심야 응급 의료 접근성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12745" y="5345859"/>
            <a:ext cx="6177029" cy="62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501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의료 사각지대 격자 + 응급차 배치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745970" y="6177029"/>
            <a:ext cx="7549696" cy="1304039"/>
            <a:chOff x="0" y="0"/>
            <a:chExt cx="10066261" cy="17387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66274" cy="1738757"/>
            </a:xfrm>
            <a:custGeom>
              <a:avLst/>
              <a:gdLst/>
              <a:ahLst/>
              <a:cxnLst/>
              <a:rect r="r" b="b" t="t" l="l"/>
              <a:pathLst>
                <a:path h="1738757" w="10066274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9776460" y="0"/>
                  </a:lnTo>
                  <a:cubicBezTo>
                    <a:pt x="9936480" y="0"/>
                    <a:pt x="10066274" y="129794"/>
                    <a:pt x="10066274" y="289814"/>
                  </a:cubicBezTo>
                  <a:lnTo>
                    <a:pt x="10066274" y="1448943"/>
                  </a:lnTo>
                  <a:cubicBezTo>
                    <a:pt x="10066274" y="1608963"/>
                    <a:pt x="9936480" y="1738757"/>
                    <a:pt x="9776460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1C2A4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951872" y="6314294"/>
            <a:ext cx="823608" cy="1029500"/>
            <a:chOff x="0" y="0"/>
            <a:chExt cx="1098144" cy="137266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8138" cy="1372672"/>
            </a:xfrm>
            <a:custGeom>
              <a:avLst/>
              <a:gdLst/>
              <a:ahLst/>
              <a:cxnLst/>
              <a:rect r="r" b="b" t="t" l="l"/>
              <a:pathLst>
                <a:path h="1372672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78" t="0" r="-110379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52400"/>
              <a:ext cx="1098144" cy="1525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3"/>
                </a:lnSpc>
              </a:pPr>
              <a:r>
                <a:rPr lang="en-US" sz="3002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👴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0912745" y="6246495"/>
            <a:ext cx="6177029" cy="64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1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독거노인 돌봄 방문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912745" y="6787163"/>
            <a:ext cx="6177029" cy="62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501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돌봄 사각지대 + 인력 라우팅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745970" y="7618333"/>
            <a:ext cx="7549696" cy="1304039"/>
            <a:chOff x="0" y="0"/>
            <a:chExt cx="10066261" cy="17387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66274" cy="1738757"/>
            </a:xfrm>
            <a:custGeom>
              <a:avLst/>
              <a:gdLst/>
              <a:ahLst/>
              <a:cxnLst/>
              <a:rect r="r" b="b" t="t" l="l"/>
              <a:pathLst>
                <a:path h="1738757" w="10066274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9776460" y="0"/>
                  </a:lnTo>
                  <a:cubicBezTo>
                    <a:pt x="9936480" y="0"/>
                    <a:pt x="10066274" y="129794"/>
                    <a:pt x="10066274" y="289814"/>
                  </a:cubicBezTo>
                  <a:lnTo>
                    <a:pt x="10066274" y="1448943"/>
                  </a:lnTo>
                  <a:cubicBezTo>
                    <a:pt x="10066274" y="1608963"/>
                    <a:pt x="9936480" y="1738757"/>
                    <a:pt x="9776460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1C2A44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951872" y="7755598"/>
            <a:ext cx="823608" cy="1029500"/>
            <a:chOff x="0" y="0"/>
            <a:chExt cx="1098144" cy="137266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8138" cy="1372672"/>
            </a:xfrm>
            <a:custGeom>
              <a:avLst/>
              <a:gdLst/>
              <a:ahLst/>
              <a:cxnLst/>
              <a:rect r="r" b="b" t="t" l="l"/>
              <a:pathLst>
                <a:path h="1372672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78" t="0" r="-110379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52400"/>
              <a:ext cx="1098144" cy="1525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3"/>
                </a:lnSpc>
              </a:pPr>
              <a:r>
                <a:rPr lang="en-US" sz="3002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🚨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0912745" y="7687799"/>
            <a:ext cx="6177029" cy="64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01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재난 대피 경로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912745" y="8228467"/>
            <a:ext cx="6177029" cy="62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501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위험격자 + 대피동선 최적화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95033" y="9738408"/>
            <a:ext cx="10981382" cy="4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501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🌙 달빛버스  |  Moonlight Bus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4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459200" y="354330"/>
            <a:ext cx="164592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500">
                <a:solidFill>
                  <a:srgbClr val="B8C0CC"/>
                </a:solidFill>
                <a:latin typeface="Arimo"/>
                <a:ea typeface="Arimo"/>
                <a:cs typeface="Arimo"/>
                <a:sym typeface="Arimo"/>
              </a:rPr>
              <a:t>04 / 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2960" y="335280"/>
            <a:ext cx="109728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솔루션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754380"/>
            <a:ext cx="548640" cy="82296"/>
            <a:chOff x="0" y="0"/>
            <a:chExt cx="731520" cy="1097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" cy="109728"/>
            </a:xfrm>
            <a:custGeom>
              <a:avLst/>
              <a:gdLst/>
              <a:ahLst/>
              <a:cxnLst/>
              <a:rect r="r" b="b" t="t" l="l"/>
              <a:pathLst>
                <a:path h="10972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D74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22960" y="741045"/>
            <a:ext cx="16459200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4500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달빛버스 — 사각지대를 ‘예측’해서 먼저 달려가는 심야 DRT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2960" y="1805940"/>
            <a:ext cx="1645920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449">
                <a:solidFill>
                  <a:srgbClr val="4FC3F7"/>
                </a:solidFill>
                <a:latin typeface="Calibri (MS)"/>
                <a:ea typeface="Calibri (MS)"/>
                <a:cs typeface="Calibri (MS)"/>
                <a:sym typeface="Calibri (MS)"/>
              </a:rPr>
              <a:t>수요 × 공급결핍 × 안전을 결합한 새로운 위험지수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22960" y="2880360"/>
            <a:ext cx="16596360" cy="1371600"/>
            <a:chOff x="0" y="0"/>
            <a:chExt cx="2212848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1823680" y="0"/>
                  </a:lnTo>
                  <a:cubicBezTo>
                    <a:pt x="21992082" y="0"/>
                    <a:pt x="22128480" y="136525"/>
                    <a:pt x="22128480" y="304800"/>
                  </a:cubicBezTo>
                  <a:lnTo>
                    <a:pt x="22128480" y="1524000"/>
                  </a:lnTo>
                  <a:cubicBezTo>
                    <a:pt x="22128480" y="1692402"/>
                    <a:pt x="21991955" y="1828800"/>
                    <a:pt x="21823680" y="1828800"/>
                  </a:cubicBezTo>
                  <a:lnTo>
                    <a:pt x="304800" y="1828800"/>
                  </a:lnTo>
                  <a:cubicBezTo>
                    <a:pt x="136398" y="1828800"/>
                    <a:pt x="0" y="1692275"/>
                    <a:pt x="0" y="152400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3154680"/>
            <a:ext cx="16596360" cy="960120"/>
            <a:chOff x="0" y="0"/>
            <a:chExt cx="2212848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23825"/>
              <a:ext cx="22128480" cy="1403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50"/>
                </a:lnSpc>
              </a:pPr>
              <a:r>
                <a:rPr lang="en-US" sz="3300" b="true">
                  <a:solidFill>
                    <a:srgbClr val="FFD7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Risk = 0.3 · 잠재수요  +  0.3 · 공급결핍  +  0.4 · 안전위험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4663440"/>
            <a:ext cx="5554980" cy="2743200"/>
            <a:chOff x="0" y="0"/>
            <a:chExt cx="7406640" cy="3657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06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40664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lnTo>
                    <a:pt x="6797040" y="0"/>
                  </a:lnTo>
                  <a:cubicBezTo>
                    <a:pt x="7133717" y="0"/>
                    <a:pt x="7406640" y="272923"/>
                    <a:pt x="7406640" y="609600"/>
                  </a:cubicBezTo>
                  <a:lnTo>
                    <a:pt x="7406640" y="3048000"/>
                  </a:lnTo>
                  <a:cubicBezTo>
                    <a:pt x="7406640" y="3384677"/>
                    <a:pt x="7133717" y="3657600"/>
                    <a:pt x="6797040" y="3657600"/>
                  </a:cubicBezTo>
                  <a:lnTo>
                    <a:pt x="609600" y="3657600"/>
                  </a:lnTo>
                  <a:cubicBezTo>
                    <a:pt x="272923" y="3657600"/>
                    <a:pt x="0" y="3384677"/>
                    <a:pt x="0" y="304800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4663440"/>
            <a:ext cx="5554980" cy="109728"/>
            <a:chOff x="0" y="0"/>
            <a:chExt cx="7406640" cy="1463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06640" cy="146304"/>
            </a:xfrm>
            <a:custGeom>
              <a:avLst/>
              <a:gdLst/>
              <a:ahLst/>
              <a:cxnLst/>
              <a:rect r="r" b="b" t="t" l="l"/>
              <a:pathLst>
                <a:path h="1463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4FC3F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4440" y="4868418"/>
            <a:ext cx="493776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2749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잠재수요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4440" y="5544693"/>
            <a:ext cx="4937760" cy="1024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B8C0CC"/>
                </a:solidFill>
                <a:latin typeface="Arimo"/>
                <a:ea typeface="Arimo"/>
                <a:cs typeface="Arimo"/>
                <a:sym typeface="Arimo"/>
              </a:rPr>
              <a:t>1인가구·고령자 비율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심야 유동인구·환승 패턴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583680" y="4663440"/>
            <a:ext cx="5554980" cy="2743200"/>
            <a:chOff x="0" y="0"/>
            <a:chExt cx="7406640" cy="3657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06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40664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lnTo>
                    <a:pt x="6797040" y="0"/>
                  </a:lnTo>
                  <a:cubicBezTo>
                    <a:pt x="7133717" y="0"/>
                    <a:pt x="7406640" y="272923"/>
                    <a:pt x="7406640" y="609600"/>
                  </a:cubicBezTo>
                  <a:lnTo>
                    <a:pt x="7406640" y="3048000"/>
                  </a:lnTo>
                  <a:cubicBezTo>
                    <a:pt x="7406640" y="3384677"/>
                    <a:pt x="7133717" y="3657600"/>
                    <a:pt x="6797040" y="3657600"/>
                  </a:cubicBezTo>
                  <a:lnTo>
                    <a:pt x="609600" y="3657600"/>
                  </a:lnTo>
                  <a:cubicBezTo>
                    <a:pt x="272923" y="3657600"/>
                    <a:pt x="0" y="3384677"/>
                    <a:pt x="0" y="304800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583680" y="4663440"/>
            <a:ext cx="5554980" cy="109728"/>
            <a:chOff x="0" y="0"/>
            <a:chExt cx="7406640" cy="1463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06640" cy="146304"/>
            </a:xfrm>
            <a:custGeom>
              <a:avLst/>
              <a:gdLst/>
              <a:ahLst/>
              <a:cxnLst/>
              <a:rect r="r" b="b" t="t" l="l"/>
              <a:pathLst>
                <a:path h="1463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69A3A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995160" y="4868418"/>
            <a:ext cx="493776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2749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공급결핍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95160" y="5544693"/>
            <a:ext cx="4937760" cy="1024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B8C0CC"/>
                </a:solidFill>
                <a:latin typeface="Arimo"/>
                <a:ea typeface="Arimo"/>
                <a:cs typeface="Arimo"/>
                <a:sym typeface="Arimo"/>
              </a:rPr>
              <a:t>N버스 접근성·배차간격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막차 이후 공백시간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344400" y="4663440"/>
            <a:ext cx="5554980" cy="2743200"/>
            <a:chOff x="0" y="0"/>
            <a:chExt cx="7406640" cy="3657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06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40664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lnTo>
                    <a:pt x="6797040" y="0"/>
                  </a:lnTo>
                  <a:cubicBezTo>
                    <a:pt x="7133717" y="0"/>
                    <a:pt x="7406640" y="272923"/>
                    <a:pt x="7406640" y="609600"/>
                  </a:cubicBezTo>
                  <a:lnTo>
                    <a:pt x="7406640" y="3048000"/>
                  </a:lnTo>
                  <a:cubicBezTo>
                    <a:pt x="7406640" y="3384677"/>
                    <a:pt x="7133717" y="3657600"/>
                    <a:pt x="6797040" y="3657600"/>
                  </a:cubicBezTo>
                  <a:lnTo>
                    <a:pt x="609600" y="3657600"/>
                  </a:lnTo>
                  <a:cubicBezTo>
                    <a:pt x="272923" y="3657600"/>
                    <a:pt x="0" y="3384677"/>
                    <a:pt x="0" y="304800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344400" y="4663440"/>
            <a:ext cx="5554980" cy="109728"/>
            <a:chOff x="0" y="0"/>
            <a:chExt cx="7406640" cy="1463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06640" cy="146304"/>
            </a:xfrm>
            <a:custGeom>
              <a:avLst/>
              <a:gdLst/>
              <a:ahLst/>
              <a:cxnLst/>
              <a:rect r="r" b="b" t="t" l="l"/>
              <a:pathLst>
                <a:path h="1463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54B4B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755880" y="4868418"/>
            <a:ext cx="493776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2749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안전위험  ★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55880" y="5516118"/>
            <a:ext cx="4937760" cy="105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가로등·CCTV·범죄 격자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골목길·유흥가 인접도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22960" y="7818120"/>
            <a:ext cx="16596360" cy="1783080"/>
            <a:chOff x="0" y="0"/>
            <a:chExt cx="22128480" cy="2377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1284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21284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lnTo>
                    <a:pt x="21732239" y="0"/>
                  </a:lnTo>
                  <a:cubicBezTo>
                    <a:pt x="21951062" y="0"/>
                    <a:pt x="22128480" y="177419"/>
                    <a:pt x="22128480" y="396240"/>
                  </a:cubicBezTo>
                  <a:lnTo>
                    <a:pt x="22128480" y="1981200"/>
                  </a:lnTo>
                  <a:cubicBezTo>
                    <a:pt x="22128480" y="2200021"/>
                    <a:pt x="21951062" y="2377440"/>
                    <a:pt x="21732239" y="2377440"/>
                  </a:cubicBezTo>
                  <a:lnTo>
                    <a:pt x="396240" y="2377440"/>
                  </a:lnTo>
                  <a:cubicBezTo>
                    <a:pt x="177419" y="2377440"/>
                    <a:pt x="0" y="2200021"/>
                    <a:pt x="0" y="198120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822960" y="9730740"/>
            <a:ext cx="109728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🌙 달빛버스  |  Moonlight Bus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26729" y="8273415"/>
            <a:ext cx="14251663" cy="67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다층 데이터 통합관리 → 심야 이동 데이터 레이어 → 수요·안전 예측 → 자율주행 배차 최적화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4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459200" y="354330"/>
            <a:ext cx="164592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0"/>
              </a:lnSpc>
            </a:pPr>
            <a:r>
              <a:rPr lang="en-US" sz="1500">
                <a:solidFill>
                  <a:srgbClr val="B8C0CC"/>
                </a:solidFill>
                <a:latin typeface="Arimo"/>
                <a:ea typeface="Arimo"/>
                <a:cs typeface="Arimo"/>
                <a:sym typeface="Arimo"/>
              </a:rPr>
              <a:t>07 / 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2960" y="335280"/>
            <a:ext cx="109728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b="true">
                <a:solidFill>
                  <a:srgbClr val="FFD7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기대효과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754380"/>
            <a:ext cx="548640" cy="82296"/>
            <a:chOff x="0" y="0"/>
            <a:chExt cx="731520" cy="1097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" cy="109728"/>
            </a:xfrm>
            <a:custGeom>
              <a:avLst/>
              <a:gdLst/>
              <a:ahLst/>
              <a:cxnLst/>
              <a:rect r="r" b="b" t="t" l="l"/>
              <a:pathLst>
                <a:path h="10972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D74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22960" y="741045"/>
            <a:ext cx="164592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4500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심야를 넘어, 애매한 ‘도보 거리’를 잡는 교통 시스템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2960" y="2880360"/>
            <a:ext cx="5554980" cy="4114800"/>
            <a:chOff x="0" y="0"/>
            <a:chExt cx="7406640" cy="548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06640" cy="5486400"/>
            </a:xfrm>
            <a:custGeom>
              <a:avLst/>
              <a:gdLst/>
              <a:ahLst/>
              <a:cxnLst/>
              <a:rect r="r" b="b" t="t" l="l"/>
              <a:pathLst>
                <a:path h="5486400" w="740664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lnTo>
                    <a:pt x="6492240" y="0"/>
                  </a:lnTo>
                  <a:cubicBezTo>
                    <a:pt x="6997319" y="0"/>
                    <a:pt x="7406640" y="409448"/>
                    <a:pt x="7406640" y="914400"/>
                  </a:cubicBezTo>
                  <a:lnTo>
                    <a:pt x="7406640" y="4572000"/>
                  </a:lnTo>
                  <a:cubicBezTo>
                    <a:pt x="7406640" y="5077079"/>
                    <a:pt x="6997192" y="5486400"/>
                    <a:pt x="6492240" y="5486400"/>
                  </a:cubicBezTo>
                  <a:lnTo>
                    <a:pt x="914400" y="5486400"/>
                  </a:lnTo>
                  <a:cubicBezTo>
                    <a:pt x="409321" y="5486400"/>
                    <a:pt x="0" y="5076952"/>
                    <a:pt x="0" y="457200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2880360"/>
            <a:ext cx="5554980" cy="137160"/>
            <a:chOff x="0" y="0"/>
            <a:chExt cx="7406640" cy="182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FC3F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22960" y="3415665"/>
            <a:ext cx="5554980" cy="105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700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지역 맞춤형 교통</a:t>
            </a:r>
          </a:p>
          <a:p>
            <a:pPr algn="ctr">
              <a:lnSpc>
                <a:spcPts val="4050"/>
              </a:lnSpc>
            </a:pPr>
            <a:r>
              <a:rPr lang="en-US" sz="2700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사각지대 연결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2960" y="4882515"/>
            <a:ext cx="5554980" cy="115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1800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유흥가, 학군지, 주거지, 대학가, 병원권역처럼 지역마다 다른 이동 공백을 데이터 기반으로 분석하고 </a:t>
            </a:r>
          </a:p>
          <a:p>
            <a:pPr algn="ctr">
              <a:lnSpc>
                <a:spcPts val="3024"/>
              </a:lnSpc>
            </a:pPr>
            <a:r>
              <a:rPr lang="en-US" sz="1800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맞춤형 DRT를 배치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83680" y="2880360"/>
            <a:ext cx="5554980" cy="4114800"/>
            <a:chOff x="0" y="0"/>
            <a:chExt cx="7406640" cy="548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06640" cy="5486400"/>
            </a:xfrm>
            <a:custGeom>
              <a:avLst/>
              <a:gdLst/>
              <a:ahLst/>
              <a:cxnLst/>
              <a:rect r="r" b="b" t="t" l="l"/>
              <a:pathLst>
                <a:path h="5486400" w="740664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lnTo>
                    <a:pt x="6492240" y="0"/>
                  </a:lnTo>
                  <a:cubicBezTo>
                    <a:pt x="6997319" y="0"/>
                    <a:pt x="7406640" y="409448"/>
                    <a:pt x="7406640" y="914400"/>
                  </a:cubicBezTo>
                  <a:lnTo>
                    <a:pt x="7406640" y="4572000"/>
                  </a:lnTo>
                  <a:cubicBezTo>
                    <a:pt x="7406640" y="5077079"/>
                    <a:pt x="6997192" y="5486400"/>
                    <a:pt x="6492240" y="5486400"/>
                  </a:cubicBezTo>
                  <a:lnTo>
                    <a:pt x="914400" y="5486400"/>
                  </a:lnTo>
                  <a:cubicBezTo>
                    <a:pt x="409321" y="5486400"/>
                    <a:pt x="0" y="5076952"/>
                    <a:pt x="0" y="457200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583680" y="2880360"/>
            <a:ext cx="5554980" cy="137160"/>
            <a:chOff x="0" y="0"/>
            <a:chExt cx="7406640" cy="182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CC97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789420" y="3415665"/>
            <a:ext cx="5554980" cy="105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700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역세권·환승</a:t>
            </a:r>
          </a:p>
          <a:p>
            <a:pPr algn="ctr">
              <a:lnSpc>
                <a:spcPts val="4050"/>
              </a:lnSpc>
            </a:pPr>
            <a:r>
              <a:rPr lang="en-US" sz="2700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접근성 강화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83680" y="4882515"/>
            <a:ext cx="5554980" cy="115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1800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지하철역, N버스 정류장, 간선버스 정류장에서 실제 주거지·학원가·원룸촌·병원까지 이어지는 마지막 1~3km를 연결해 환승 이후 이동 공백을 줄인다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344400" y="2880360"/>
            <a:ext cx="5554980" cy="4114800"/>
            <a:chOff x="0" y="0"/>
            <a:chExt cx="7406640" cy="548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06640" cy="5486400"/>
            </a:xfrm>
            <a:custGeom>
              <a:avLst/>
              <a:gdLst/>
              <a:ahLst/>
              <a:cxnLst/>
              <a:rect r="r" b="b" t="t" l="l"/>
              <a:pathLst>
                <a:path h="5486400" w="740664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lnTo>
                    <a:pt x="6492240" y="0"/>
                  </a:lnTo>
                  <a:cubicBezTo>
                    <a:pt x="6997319" y="0"/>
                    <a:pt x="7406640" y="409448"/>
                    <a:pt x="7406640" y="914400"/>
                  </a:cubicBezTo>
                  <a:lnTo>
                    <a:pt x="7406640" y="4572000"/>
                  </a:lnTo>
                  <a:cubicBezTo>
                    <a:pt x="7406640" y="5077079"/>
                    <a:pt x="6997192" y="5486400"/>
                    <a:pt x="6492240" y="5486400"/>
                  </a:cubicBezTo>
                  <a:lnTo>
                    <a:pt x="914400" y="5486400"/>
                  </a:lnTo>
                  <a:cubicBezTo>
                    <a:pt x="409321" y="5486400"/>
                    <a:pt x="0" y="5076952"/>
                    <a:pt x="0" y="457200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44400" y="2880360"/>
            <a:ext cx="5554980" cy="137160"/>
            <a:chOff x="0" y="0"/>
            <a:chExt cx="7406640" cy="182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FFD74A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344400" y="4118610"/>
            <a:ext cx="5554980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700" b="true">
                <a:solidFill>
                  <a:srgbClr val="F5F7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자율주행 운영 효율화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98363" y="4749165"/>
            <a:ext cx="4720957" cy="115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1800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지역별 수요 예측을 기반으로 차량을 선배치해 빈차 운행, 대기시간, 우회시간을 줄이고 제한된 차량을 효율적으로 운영한다.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7543800"/>
            <a:ext cx="16596360" cy="2057400"/>
            <a:chOff x="0" y="0"/>
            <a:chExt cx="22128480" cy="2743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212848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21671280" y="0"/>
                  </a:lnTo>
                  <a:cubicBezTo>
                    <a:pt x="21923756" y="0"/>
                    <a:pt x="22128480" y="204724"/>
                    <a:pt x="22128480" y="457200"/>
                  </a:cubicBezTo>
                  <a:lnTo>
                    <a:pt x="22128480" y="2286000"/>
                  </a:lnTo>
                  <a:cubicBezTo>
                    <a:pt x="22128480" y="2538476"/>
                    <a:pt x="21923756" y="2743200"/>
                    <a:pt x="21671280" y="2743200"/>
                  </a:cubicBezTo>
                  <a:lnTo>
                    <a:pt x="457200" y="2743200"/>
                  </a:lnTo>
                  <a:cubicBezTo>
                    <a:pt x="204724" y="2743200"/>
                    <a:pt x="0" y="2538476"/>
                    <a:pt x="0" y="2286000"/>
                  </a:cubicBezTo>
                  <a:close/>
                </a:path>
              </a:pathLst>
            </a:custGeom>
            <a:solidFill>
              <a:srgbClr val="141F36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822960" y="7578090"/>
            <a:ext cx="1659636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60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🌙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2960" y="8281035"/>
            <a:ext cx="1659636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5"/>
              </a:lnSpc>
            </a:pPr>
            <a:r>
              <a:rPr lang="en-US" sz="2550" b="true">
                <a:solidFill>
                  <a:srgbClr val="FFD74A"/>
                </a:solidFill>
                <a:latin typeface="Arimo Bold"/>
                <a:ea typeface="Arimo Bold"/>
                <a:cs typeface="Arimo Bold"/>
                <a:sym typeface="Arimo Bold"/>
              </a:rPr>
              <a:t>달빛버스는</a:t>
            </a:r>
            <a:r>
              <a:rPr lang="en-US" sz="2550" b="true">
                <a:solidFill>
                  <a:srgbClr val="FFD74A"/>
                </a:solidFill>
                <a:latin typeface="Arimo Bold"/>
                <a:ea typeface="Arimo Bold"/>
                <a:cs typeface="Arimo Bold"/>
                <a:sym typeface="Arimo Bold"/>
              </a:rPr>
              <a:t> 단순한 심야 셔틀이 아니라, 도시의 역세권·환승거점과 생활권 말단부를 연결하는 </a:t>
            </a:r>
          </a:p>
          <a:p>
            <a:pPr algn="ctr">
              <a:lnSpc>
                <a:spcPts val="3825"/>
              </a:lnSpc>
            </a:pPr>
            <a:r>
              <a:rPr lang="en-US" sz="2550" b="true">
                <a:solidFill>
                  <a:srgbClr val="FFD74A"/>
                </a:solidFill>
                <a:latin typeface="Arimo Bold"/>
                <a:ea typeface="Arimo Bold"/>
                <a:cs typeface="Arimo Bold"/>
                <a:sym typeface="Arimo Bold"/>
              </a:rPr>
              <a:t>지역 맞춤형 라스트마일 모빌리티 운영 시스템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22960" y="9730740"/>
            <a:ext cx="109728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B8C0CC"/>
                </a:solidFill>
                <a:latin typeface="Calibri (MS)"/>
                <a:ea typeface="Calibri (MS)"/>
                <a:cs typeface="Calibri (MS)"/>
                <a:sym typeface="Calibri (MS)"/>
              </a:rPr>
              <a:t>🌙 달빛버스  |  Moonlight Bus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14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472068" y="354654"/>
            <a:ext cx="1647206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51"/>
              </a:lnSpc>
            </a:pPr>
            <a:r>
              <a:rPr lang="en-US" sz="1501">
                <a:solidFill>
                  <a:srgbClr val="B8C0CC"/>
                </a:solidFill>
                <a:latin typeface="Arimo"/>
                <a:ea typeface="Arimo"/>
                <a:cs typeface="Arimo"/>
                <a:sym typeface="Arimo"/>
              </a:rPr>
              <a:t>06 / 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8646" y="4671377"/>
            <a:ext cx="14870709" cy="71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B8C0CC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https://huggingface.co/spaces/upsonyeon/MoonlightBus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DAHNeCVzxHw</dc:identifier>
  <dcterms:modified xsi:type="dcterms:W3CDTF">2011-08-01T06:04:30Z</dcterms:modified>
  <cp:revision>1</cp:revision>
  <dc:title>달빛버스_5분발표.pptx</dc:title>
</cp:coreProperties>
</file>